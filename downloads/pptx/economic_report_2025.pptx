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実質GDP成長率（前期比年率, %）</c:v>
                </c:pt>
              </c:strCache>
            </c:strRef>
          </c:tx>
          <c:spPr>
            <a:solidFill>
              <a:srgbClr val="1B336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3360"/>
                    </a:solidFill>
                    <a:latin typeface="Noto Sans JP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2024 Q1</c:v>
                  </c:pt>
                  <c:pt idx="1">
                    <c:v>2024 Q2</c:v>
                  </c:pt>
                  <c:pt idx="2">
                    <c:v>2024 Q3</c:v>
                  </c:pt>
                  <c:pt idx="3">
                    <c:v>2024 Q4</c:v>
                  </c:pt>
                  <c:pt idx="4">
                    <c:v>2025 Q1</c:v>
                  </c:pt>
                  <c:pt idx="5">
                    <c:v>2025 Q2</c:v>
                  </c:pt>
                  <c:pt idx="6">
                    <c:v>2025 Q3</c:v>
                  </c:pt>
                  <c:pt idx="7">
                    <c:v>2025 Q4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-0.5</c:v>
                </c:pt>
                <c:pt idx="1">
                  <c:v>2.2</c:v>
                </c:pt>
                <c:pt idx="2">
                  <c:v>0.7</c:v>
                </c:pt>
                <c:pt idx="3">
                  <c:v>1.1</c:v>
                </c:pt>
                <c:pt idx="4">
                  <c:v>1.4</c:v>
                </c:pt>
                <c:pt idx="5">
                  <c:v>0.9</c:v>
                </c:pt>
                <c:pt idx="6">
                  <c:v>1.2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3360"/>
                  </a:solidFill>
                  <a:latin typeface="Noto Sans JP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34343"/>
                </a:solidFill>
                <a:latin typeface="Noto Sans JP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434343"/>
              </a:solidFill>
              <a:latin typeface="Noto Sans JP"/>
              <a:cs typeface="Noto Sans JP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3360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371600"/>
            <a:ext cx="2743200" cy="54864"/>
          </a:xfrm>
          <a:prstGeom prst="rect">
            <a:avLst/>
          </a:prstGeom>
          <a:solidFill>
            <a:srgbClr val="2A7B5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日本経済動向レポート 2025-2026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A7B5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～ 緩やかな回復基調と今後の課題 ～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内閣府 経済財政分析担当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36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SUMMARY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914400"/>
          </a:xfrm>
          <a:prstGeom prst="rect">
            <a:avLst>
              <a:gd name="adj" fmla="val 10000"/>
            </a:avLst>
          </a:prstGeom>
          <a:solidFill>
            <a:srgbClr val="1B336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日本経済は緩やかに回復基調にあるが、海外経済の不確実性や物価動向に注意が必要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457200" cy="457200"/>
          </a:xfrm>
          <a:prstGeom prst="rect">
            <a:avLst>
              <a:gd name="adj" fmla="val 10000"/>
            </a:avLst>
          </a:prstGeom>
          <a:solidFill>
            <a:srgbClr val="2A7B5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88720" y="2377440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GDP成長率は2025年度+1.2%前後で推移し、内需主導の緩やかな回復が続く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457200" cy="457200"/>
          </a:xfrm>
          <a:prstGeom prst="rect">
            <a:avLst>
              <a:gd name="adj" fmla="val 10000"/>
            </a:avLst>
          </a:prstGeom>
          <a:solidFill>
            <a:srgbClr val="2A7B5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3017520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物価上昇率は鈍化傾向だが、実質賃金の回復は道半ば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457200" cy="457200"/>
          </a:xfrm>
          <a:prstGeom prst="rect">
            <a:avLst>
              <a:gd name="adj" fmla="val 10000"/>
            </a:avLst>
          </a:prstGeom>
          <a:solidFill>
            <a:srgbClr val="2A7B5B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8720" y="3657600"/>
            <a:ext cx="7406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海外経済の減速リスク・為替変動・エネルギー価格が下振れ要因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336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2A7B5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8000" dirty="0"/>
          </a:p>
        </p:txBody>
      </p:sp>
      <p:sp>
        <p:nvSpPr>
          <p:cNvPr id="4" name="Shape 2"/>
          <p:cNvSpPr/>
          <p:nvPr/>
        </p:nvSpPr>
        <p:spPr>
          <a:xfrm>
            <a:off x="548640" y="2651760"/>
            <a:ext cx="1828800" cy="54864"/>
          </a:xfrm>
          <a:prstGeom prst="rect">
            <a:avLst/>
          </a:prstGeom>
          <a:solidFill>
            <a:srgbClr val="2A7B5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GDP・景気動向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四半期GDP成長率の推移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1097280" cy="36576"/>
          </a:xfrm>
          <a:prstGeom prst="rect">
            <a:avLst/>
          </a:prstGeom>
          <a:solidFill>
            <a:srgbClr val="0055A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822960"/>
            <a:ext cx="8046720" cy="457200"/>
          </a:xfrm>
          <a:prstGeom prst="rect">
            <a:avLst>
              <a:gd name="adj" fmla="val 10000"/>
            </a:avLst>
          </a:prstGeom>
          <a:solidFill>
            <a:srgbClr val="1B336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822960"/>
            <a:ext cx="54864" cy="457200"/>
          </a:xfrm>
          <a:prstGeom prst="rect">
            <a:avLst/>
          </a:prstGeom>
          <a:solidFill>
            <a:srgbClr val="2A7B5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82296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2025年は年間を通じてプラス成長を維持し、緩やかな回復基調が定着</a:t>
            </a:r>
            <a:endParaRPr lang="en-US" sz="1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463040"/>
          <a:ext cx="53035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035040" y="1463040"/>
            <a:ext cx="2560320" cy="3017520"/>
          </a:xfrm>
          <a:prstGeom prst="rect">
            <a:avLst>
              <a:gd name="adj" fmla="val 3571"/>
            </a:avLst>
          </a:prstGeom>
          <a:solidFill>
            <a:srgbClr val="F2F4F7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0" y="16459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注目ポイント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217920" y="2103120"/>
            <a:ext cx="21945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2024年Q1のマイナス成長から回復し、2025年は内需を中心に安定的な成長軌道に復帰。個人消費と設備投資が成長を牽引。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46634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B7B8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出所: 内閣府「四半期別GDP速報」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主要経済指標（2025年度見通し）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1097280" cy="36576"/>
          </a:xfrm>
          <a:prstGeom prst="rect">
            <a:avLst/>
          </a:prstGeom>
          <a:solidFill>
            <a:srgbClr val="0055A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822960"/>
            <a:ext cx="8046720" cy="457200"/>
          </a:xfrm>
          <a:prstGeom prst="rect">
            <a:avLst>
              <a:gd name="adj" fmla="val 10000"/>
            </a:avLst>
          </a:prstGeom>
          <a:solidFill>
            <a:srgbClr val="1B336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822960"/>
            <a:ext cx="54864" cy="457200"/>
          </a:xfrm>
          <a:prstGeom prst="rect">
            <a:avLst/>
          </a:prstGeom>
          <a:solidFill>
            <a:srgbClr val="2A7B5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82296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GDP成長率・雇用・物価ともに改善傾向だが、力強さには欠ける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1805940" cy="2560320"/>
          </a:xfrm>
          <a:prstGeom prst="rect">
            <a:avLst>
              <a:gd name="adj" fmla="val 5063"/>
            </a:avLst>
          </a:prstGeom>
          <a:solidFill>
            <a:srgbClr val="F2F4F7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20240"/>
            <a:ext cx="18059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+1.2%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18059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実質GDP成長率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474720"/>
            <a:ext cx="16230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2025年度見通し（前年度比）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628900" y="1645920"/>
            <a:ext cx="1805940" cy="2560320"/>
          </a:xfrm>
          <a:prstGeom prst="rect">
            <a:avLst>
              <a:gd name="adj" fmla="val 5063"/>
            </a:avLst>
          </a:prstGeom>
          <a:solidFill>
            <a:srgbClr val="F2F4F7"/>
          </a:solidFill>
          <a:ln/>
        </p:spPr>
      </p:sp>
      <p:sp>
        <p:nvSpPr>
          <p:cNvPr id="12" name="Text 10"/>
          <p:cNvSpPr/>
          <p:nvPr/>
        </p:nvSpPr>
        <p:spPr>
          <a:xfrm>
            <a:off x="2628900" y="1920240"/>
            <a:ext cx="18059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2.4%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628900" y="3017520"/>
            <a:ext cx="18059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完全失業率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720340" y="3474720"/>
            <a:ext cx="16230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2025年平均、前年比▲0.1pt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709160" y="1645920"/>
            <a:ext cx="1805940" cy="2560320"/>
          </a:xfrm>
          <a:prstGeom prst="rect">
            <a:avLst>
              <a:gd name="adj" fmla="val 5063"/>
            </a:avLst>
          </a:prstGeom>
          <a:solidFill>
            <a:srgbClr val="F2F4F7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1920240"/>
            <a:ext cx="18059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+2.5%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4709160" y="3017520"/>
            <a:ext cx="18059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消費者物価指数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00600" y="3474720"/>
            <a:ext cx="16230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生鮮食品除くコアCPI前年比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89420" y="1645920"/>
            <a:ext cx="1805940" cy="2560320"/>
          </a:xfrm>
          <a:prstGeom prst="rect">
            <a:avLst>
              <a:gd name="adj" fmla="val 5063"/>
            </a:avLst>
          </a:prstGeom>
          <a:solidFill>
            <a:srgbClr val="F2F4F7"/>
          </a:solidFill>
          <a:ln/>
        </p:spPr>
      </p:sp>
      <p:sp>
        <p:nvSpPr>
          <p:cNvPr id="20" name="Text 18"/>
          <p:cNvSpPr/>
          <p:nvPr/>
        </p:nvSpPr>
        <p:spPr>
          <a:xfrm>
            <a:off x="6789420" y="1920240"/>
            <a:ext cx="18059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+3.8%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789420" y="3017520"/>
            <a:ext cx="18059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設備投資（名目）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880860" y="3474720"/>
            <a:ext cx="16230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企業の積極的な投資姿勢が継続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8640" y="46634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B7B8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出所: 内閣府「経済財政白書」、総務省「消費者物価指数」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336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2A7B5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8000" dirty="0"/>
          </a:p>
        </p:txBody>
      </p:sp>
      <p:sp>
        <p:nvSpPr>
          <p:cNvPr id="4" name="Shape 2"/>
          <p:cNvSpPr/>
          <p:nvPr/>
        </p:nvSpPr>
        <p:spPr>
          <a:xfrm>
            <a:off x="548640" y="2651760"/>
            <a:ext cx="1828800" cy="54864"/>
          </a:xfrm>
          <a:prstGeom prst="rect">
            <a:avLst/>
          </a:prstGeom>
          <a:solidFill>
            <a:srgbClr val="2A7B5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物価・賃金動向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物価と賃金の動向比較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1097280" cy="36576"/>
          </a:xfrm>
          <a:prstGeom prst="rect">
            <a:avLst/>
          </a:prstGeom>
          <a:solidFill>
            <a:srgbClr val="0055A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822960"/>
            <a:ext cx="8046720" cy="457200"/>
          </a:xfrm>
          <a:prstGeom prst="rect">
            <a:avLst>
              <a:gd name="adj" fmla="val 10000"/>
            </a:avLst>
          </a:prstGeom>
          <a:solidFill>
            <a:srgbClr val="1B336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822960"/>
            <a:ext cx="54864" cy="457200"/>
          </a:xfrm>
          <a:prstGeom prst="rect">
            <a:avLst/>
          </a:prstGeom>
          <a:solidFill>
            <a:srgbClr val="2A7B5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82296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名目賃金は上昇しているが、物価上昇に追いつかず実質賃金はマイナス圏が続く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2926080"/>
          </a:xfrm>
          <a:prstGeom prst="rect">
            <a:avLst>
              <a:gd name="adj" fmla="val 3125"/>
            </a:avLst>
          </a:prstGeom>
          <a:solidFill>
            <a:srgbClr val="F2F4F7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63040"/>
            <a:ext cx="3840480" cy="457200"/>
          </a:xfrm>
          <a:prstGeom prst="rect">
            <a:avLst>
              <a:gd name="adj" fmla="val 20000"/>
            </a:avLst>
          </a:prstGeom>
          <a:solidFill>
            <a:srgbClr val="1B336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4630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物価上昇の状況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01168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・コアCPI: 前年比+2.5%（2025年平均）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・食料品: 前年比+4.2%と高止まり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・エネルギー: 補助金縮小で+5.1%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・サービス価格: 人件費転嫁で+1.8%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840480" cy="2926080"/>
          </a:xfrm>
          <a:prstGeom prst="rect">
            <a:avLst>
              <a:gd name="adj" fmla="val 3125"/>
            </a:avLst>
          </a:prstGeom>
          <a:solidFill>
            <a:srgbClr val="F2F4F7"/>
          </a:solidFill>
          <a:ln/>
        </p:spPr>
      </p:sp>
      <p:sp>
        <p:nvSpPr>
          <p:cNvPr id="12" name="Shape 10"/>
          <p:cNvSpPr/>
          <p:nvPr/>
        </p:nvSpPr>
        <p:spPr>
          <a:xfrm>
            <a:off x="4754880" y="1463040"/>
            <a:ext cx="3840480" cy="457200"/>
          </a:xfrm>
          <a:prstGeom prst="rect">
            <a:avLst>
              <a:gd name="adj" fmla="val 20000"/>
            </a:avLst>
          </a:prstGeom>
          <a:solidFill>
            <a:srgbClr val="2A7B5B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14630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賃金上昇の状況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201168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・春闘賃上げ率: +5.1%（2025年、33年ぶり高水準）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・名目賃金: 前年比+3.2%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・実質賃金: 前年比▲0.3%（依然マイナス圏）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・パート時給: 前年比+4.5%と堅調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46634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B7B8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出所: 厚生労働省「毎月勤労統計」、総務省「消費者物価指数」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336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2A7B5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8000" dirty="0"/>
          </a:p>
        </p:txBody>
      </p:sp>
      <p:sp>
        <p:nvSpPr>
          <p:cNvPr id="4" name="Shape 2"/>
          <p:cNvSpPr/>
          <p:nvPr/>
        </p:nvSpPr>
        <p:spPr>
          <a:xfrm>
            <a:off x="548640" y="2651760"/>
            <a:ext cx="1828800" cy="54864"/>
          </a:xfrm>
          <a:prstGeom prst="rect">
            <a:avLst/>
          </a:prstGeom>
          <a:solidFill>
            <a:srgbClr val="2A7B5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リスク要因と見通し</a:t>
            </a:r>
            <a:endParaRPr lang="en-US" sz="3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日本経済の主要リスク要因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1097280" cy="36576"/>
          </a:xfrm>
          <a:prstGeom prst="rect">
            <a:avLst/>
          </a:prstGeom>
          <a:solidFill>
            <a:srgbClr val="0055A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822960"/>
            <a:ext cx="8046720" cy="457200"/>
          </a:xfrm>
          <a:prstGeom prst="rect">
            <a:avLst>
              <a:gd name="adj" fmla="val 10000"/>
            </a:avLst>
          </a:prstGeom>
          <a:solidFill>
            <a:srgbClr val="1B3360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822960"/>
            <a:ext cx="54864" cy="457200"/>
          </a:xfrm>
          <a:prstGeom prst="rect">
            <a:avLst/>
          </a:prstGeom>
          <a:solidFill>
            <a:srgbClr val="2A7B5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82296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海外経済の減速と地政学リスクが最大の不確実要因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457200" cy="548640"/>
          </a:xfrm>
          <a:prstGeom prst="rect">
            <a:avLst>
              <a:gd name="adj" fmla="val 10000"/>
            </a:avLst>
          </a:prstGeom>
          <a:solidFill>
            <a:srgbClr val="2A7B5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46304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88720" y="1463040"/>
            <a:ext cx="7406640" cy="548640"/>
          </a:xfrm>
          <a:prstGeom prst="rect">
            <a:avLst>
              <a:gd name="adj" fmla="val 8333"/>
            </a:avLst>
          </a:prstGeom>
          <a:solidFill>
            <a:srgbClr val="F2F4F7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14630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海外経済の減速リスク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0" y="146304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米国の金融引締め長期化、中国経済の構造的減速が日本の輸出・企業収益に影響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2148840"/>
            <a:ext cx="457200" cy="548640"/>
          </a:xfrm>
          <a:prstGeom prst="rect">
            <a:avLst>
              <a:gd name="adj" fmla="val 10000"/>
            </a:avLst>
          </a:prstGeom>
          <a:solidFill>
            <a:srgbClr val="2A7B5B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14884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188720" y="2148840"/>
            <a:ext cx="7406640" cy="548640"/>
          </a:xfrm>
          <a:prstGeom prst="rect">
            <a:avLst>
              <a:gd name="adj" fmla="val 8333"/>
            </a:avLst>
          </a:prstGeom>
          <a:solidFill>
            <a:srgbClr val="F2F4F7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21488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為替変動リスク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114800" y="214884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日米金利差を背景とした円安が輸入物価を押上げ、消費者の購買力を低下させる懸念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2834640"/>
            <a:ext cx="457200" cy="548640"/>
          </a:xfrm>
          <a:prstGeom prst="rect">
            <a:avLst>
              <a:gd name="adj" fmla="val 10000"/>
            </a:avLst>
          </a:prstGeom>
          <a:solidFill>
            <a:srgbClr val="2A7B5B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83464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188720" y="2834640"/>
            <a:ext cx="7406640" cy="548640"/>
          </a:xfrm>
          <a:prstGeom prst="rect">
            <a:avLst>
              <a:gd name="adj" fmla="val 8333"/>
            </a:avLst>
          </a:prstGeom>
          <a:solidFill>
            <a:srgbClr val="F2F4F7"/>
          </a:solidFill>
          <a:ln/>
        </p:spPr>
      </p:sp>
      <p:sp>
        <p:nvSpPr>
          <p:cNvPr id="20" name="Text 18"/>
          <p:cNvSpPr/>
          <p:nvPr/>
        </p:nvSpPr>
        <p:spPr>
          <a:xfrm>
            <a:off x="1371600" y="28346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エネルギー価格の不安定性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114800" y="283464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中東情勢の緊迫化によるエネルギー供給不安、LNG価格の変動リスク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48640" y="3520440"/>
            <a:ext cx="457200" cy="548640"/>
          </a:xfrm>
          <a:prstGeom prst="rect">
            <a:avLst>
              <a:gd name="adj" fmla="val 10000"/>
            </a:avLst>
          </a:prstGeom>
          <a:solidFill>
            <a:srgbClr val="2A7B5B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52044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188720" y="3520440"/>
            <a:ext cx="7406640" cy="548640"/>
          </a:xfrm>
          <a:prstGeom prst="rect">
            <a:avLst>
              <a:gd name="adj" fmla="val 8333"/>
            </a:avLst>
          </a:prstGeom>
          <a:solidFill>
            <a:srgbClr val="F2F4F7"/>
          </a:solidFill>
          <a:ln/>
        </p:spPr>
      </p:sp>
      <p:sp>
        <p:nvSpPr>
          <p:cNvPr id="25" name="Text 23"/>
          <p:cNvSpPr/>
          <p:nvPr/>
        </p:nvSpPr>
        <p:spPr>
          <a:xfrm>
            <a:off x="1371600" y="35204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人手不足の深刻化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114800" y="352044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生産年齢人口の減少により、サービス業・建設業を中心に供給制約が成長の足かせに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8640" y="46634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B7B8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出所: 内閣府「世界経済の潮流」、日本銀行「経済・物価情勢の展望」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36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914400"/>
          </a:xfrm>
          <a:prstGeom prst="rect">
            <a:avLst>
              <a:gd name="adj" fmla="val 10000"/>
            </a:avLst>
          </a:prstGeom>
          <a:solidFill>
            <a:srgbClr val="1B336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日本経済は緩やかな回復基調を維持するが、海外リスクと実質賃金の回復が今後の鍵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365760" cy="365760"/>
          </a:xfrm>
          <a:prstGeom prst="rect">
            <a:avLst>
              <a:gd name="adj" fmla="val 12500"/>
            </a:avLst>
          </a:prstGeom>
          <a:solidFill>
            <a:srgbClr val="2A7B5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292608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実質賃金のプラス転化に向け、継続的な賃上げと物価安定を注視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365760" cy="365760"/>
          </a:xfrm>
          <a:prstGeom prst="rect">
            <a:avLst>
              <a:gd name="adj" fmla="val 12500"/>
            </a:avLst>
          </a:prstGeom>
          <a:solidFill>
            <a:srgbClr val="2A7B5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429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342900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海外経済リスクへの備えとして、経済対策の機動的な実施が重要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365760" cy="365760"/>
          </a:xfrm>
          <a:prstGeom prst="rect">
            <a:avLst>
              <a:gd name="adj" fmla="val 12500"/>
            </a:avLst>
          </a:prstGeom>
          <a:solidFill>
            <a:srgbClr val="2A7B5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97280" y="393192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人手不足対策として、省力化投資・DX推進による生産性向上が急務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365760" cy="365760"/>
          </a:xfrm>
          <a:prstGeom prst="rect">
            <a:avLst>
              <a:gd name="adj" fmla="val 12500"/>
            </a:avLst>
          </a:prstGeom>
          <a:solidFill>
            <a:srgbClr val="2A7B5B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434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36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7280" y="443484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434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次回レポート（2026年夏）で最新データをフォローアップ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日本経済動向レポート 2025-2026</dc:title>
  <dc:subject>PptxGenJS Presentation</dc:subject>
  <dc:creator>内閣府 経済財政分析担当</dc:creator>
  <cp:lastModifiedBy>内閣府 経済財政分析担当</cp:lastModifiedBy>
  <cp:revision>1</cp:revision>
  <dcterms:created xsi:type="dcterms:W3CDTF">2026-03-07T05:35:40Z</dcterms:created>
  <dcterms:modified xsi:type="dcterms:W3CDTF">2026-03-07T05:35:40Z</dcterms:modified>
</cp:coreProperties>
</file>