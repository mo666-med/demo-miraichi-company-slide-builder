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2023年</c:v>
                </c:pt>
              </c:strCache>
            </c:strRef>
          </c:tx>
          <c:spPr>
            <a:solidFill>
              <a:srgbClr val="1A274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A2744"/>
                    </a:solidFill>
                    <a:latin typeface="Meiryo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Q1</c:v>
                  </c:pt>
                  <c:pt idx="1">
                    <c:v>Q2</c:v>
                  </c:pt>
                  <c:pt idx="2">
                    <c:v>Q3</c:v>
                  </c:pt>
                  <c:pt idx="3">
                    <c:v>Q4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120</c:v>
                </c:pt>
                <c:pt idx="1">
                  <c:v>150</c:v>
                </c:pt>
                <c:pt idx="2">
                  <c:v>180</c:v>
                </c:pt>
                <c:pt idx="3">
                  <c:v>210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2024年</c:v>
                </c:pt>
              </c:strCache>
            </c:strRef>
          </c:tx>
          <c:spPr>
            <a:solidFill>
              <a:srgbClr val="F9731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A2744"/>
                    </a:solidFill>
                    <a:latin typeface="Meiryo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Q1</c:v>
                  </c:pt>
                  <c:pt idx="1">
                    <c:v>Q2</c:v>
                  </c:pt>
                  <c:pt idx="2">
                    <c:v>Q3</c:v>
                  </c:pt>
                  <c:pt idx="3">
                    <c:v>Q4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140</c:v>
                </c:pt>
                <c:pt idx="1">
                  <c:v>170</c:v>
                </c:pt>
                <c:pt idx="2">
                  <c:v>200</c:v>
                </c:pt>
                <c:pt idx="3">
                  <c:v>250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A2744"/>
                  </a:solidFill>
                  <a:latin typeface="Meiryo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8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D4F6F"/>
                </a:solidFill>
                <a:latin typeface="Meiryo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none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200">
              <a:solidFill>
                <a:srgbClr val="3D4F6F"/>
              </a:solidFill>
              <a:latin typeface="Meiryo"/>
              <a:cs typeface="Meiryo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1371600"/>
            <a:ext cx="2743200" cy="54864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554480"/>
            <a:ext cx="80467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Sincerely Slide Skill V2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48640" y="292608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9731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全22パターン動作テスト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48640" y="411480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テスト作成者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SUMMARY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8046720" cy="914400"/>
          </a:xfrm>
          <a:prstGeom prst="rect">
            <a:avLst>
              <a:gd name="adj" fmla="val 10000"/>
            </a:avLst>
          </a:prstGeom>
          <a:solidFill>
            <a:srgbClr val="1A2744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09728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全22パターンが正常に動作することを確認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48640" y="2377440"/>
            <a:ext cx="457200" cy="457200"/>
          </a:xfrm>
          <a:prstGeom prst="rect">
            <a:avLst>
              <a:gd name="adj" fmla="val 10000"/>
            </a:avLst>
          </a:prstGeom>
          <a:solidFill>
            <a:srgbClr val="F97316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2377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27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88720" y="2377440"/>
            <a:ext cx="7406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27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基本パターン（1-9）の動作確認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3017520"/>
            <a:ext cx="457200" cy="457200"/>
          </a:xfrm>
          <a:prstGeom prst="rect">
            <a:avLst>
              <a:gd name="adj" fmla="val 10000"/>
            </a:avLst>
          </a:prstGeom>
          <a:solidFill>
            <a:srgbClr val="F97316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3017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27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188720" y="3017520"/>
            <a:ext cx="7406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27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V2追加パターン（10-22）の動作確認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3657600"/>
            <a:ext cx="457200" cy="457200"/>
          </a:xfrm>
          <a:prstGeom prst="rect">
            <a:avLst>
              <a:gd name="adj" fmla="val 10000"/>
            </a:avLst>
          </a:prstGeom>
          <a:solidFill>
            <a:srgbClr val="F97316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657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27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188720" y="3657600"/>
            <a:ext cx="7406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27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デザインシステムの一貫性を検証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31520"/>
            <a:ext cx="3657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F9731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01</a:t>
            </a:r>
            <a:endParaRPr lang="en-US" sz="8000" dirty="0"/>
          </a:p>
        </p:txBody>
      </p:sp>
      <p:sp>
        <p:nvSpPr>
          <p:cNvPr id="4" name="Shape 2"/>
          <p:cNvSpPr/>
          <p:nvPr/>
        </p:nvSpPr>
        <p:spPr>
          <a:xfrm>
            <a:off x="548640" y="2651760"/>
            <a:ext cx="1828800" cy="54864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292608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基本パターン</a:t>
            </a:r>
            <a:endParaRPr lang="en-US" sz="3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27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本文スライドのテスト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731520"/>
            <a:ext cx="1097280" cy="36576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822960"/>
            <a:ext cx="8046720" cy="457200"/>
          </a:xfrm>
          <a:prstGeom prst="rect">
            <a:avLst>
              <a:gd name="adj" fmla="val 10000"/>
            </a:avLst>
          </a:prstGeom>
          <a:solidFill>
            <a:srgbClr val="1A2744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822960"/>
            <a:ext cx="54864" cy="45720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822960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テキスト中心の説明スライド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1463040"/>
            <a:ext cx="804672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3D4F6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これは本文スライドのテストです。</a:t>
            </a:r>
            <a:endParaRPr lang="en-US" sz="1600" dirty="0"/>
          </a:p>
          <a:p>
            <a:pPr indent="0" marL="0">
              <a:lnSpc>
                <a:spcPct val="150000"/>
              </a:lnSpc>
              <a:buNone/>
            </a:pPr>
            <a:endParaRPr lang="en-US" sz="16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3D4F6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トヨマネ式メソッドに基づき、各スライドは「タイトル（問い）」「キーメッセージ（答え）」「コンテンツ（根拠）」の3点セットで構成されます。</a:t>
            </a:r>
            <a:endParaRPr lang="en-US" sz="1600" dirty="0"/>
          </a:p>
          <a:p>
            <a:pPr indent="0" marL="0">
              <a:lnSpc>
                <a:spcPct val="150000"/>
              </a:lnSpc>
              <a:buNone/>
            </a:pPr>
            <a:endParaRPr lang="en-US" sz="16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3D4F6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2階建て構造により、上段で結論を、下段で詳細を伝えます。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466344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200" dirty="0">
                <a:solidFill>
                  <a:srgbClr val="6B7B8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出所: テストデータ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27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列挙型スライドのテスト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731520"/>
            <a:ext cx="1097280" cy="36576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822960"/>
            <a:ext cx="8046720" cy="457200"/>
          </a:xfrm>
          <a:prstGeom prst="rect">
            <a:avLst>
              <a:gd name="adj" fmla="val 10000"/>
            </a:avLst>
          </a:prstGeom>
          <a:solidFill>
            <a:srgbClr val="1A2744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822960"/>
            <a:ext cx="54864" cy="45720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822960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3つのポイントを提示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1463040"/>
            <a:ext cx="457200" cy="548640"/>
          </a:xfrm>
          <a:prstGeom prst="rect">
            <a:avLst>
              <a:gd name="adj" fmla="val 10000"/>
            </a:avLst>
          </a:prstGeom>
          <a:solidFill>
            <a:srgbClr val="F97316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46304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27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188720" y="1463040"/>
            <a:ext cx="7406640" cy="548640"/>
          </a:xfrm>
          <a:prstGeom prst="rect">
            <a:avLst>
              <a:gd name="adj" fmla="val 8333"/>
            </a:avLst>
          </a:prstGeom>
          <a:solidFill>
            <a:srgbClr val="F5F5F5"/>
          </a:solidFill>
          <a:ln/>
        </p:spPr>
      </p:sp>
      <p:sp>
        <p:nvSpPr>
          <p:cNvPr id="10" name="Text 8"/>
          <p:cNvSpPr/>
          <p:nvPr/>
        </p:nvSpPr>
        <p:spPr>
          <a:xfrm>
            <a:off x="1371600" y="146304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7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ポイント1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114800" y="1463040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D4F6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結論ファーストの原則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2148840"/>
            <a:ext cx="457200" cy="548640"/>
          </a:xfrm>
          <a:prstGeom prst="rect">
            <a:avLst>
              <a:gd name="adj" fmla="val 10000"/>
            </a:avLst>
          </a:prstGeom>
          <a:solidFill>
            <a:srgbClr val="F97316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214884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27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1188720" y="2148840"/>
            <a:ext cx="7406640" cy="548640"/>
          </a:xfrm>
          <a:prstGeom prst="rect">
            <a:avLst>
              <a:gd name="adj" fmla="val 8333"/>
            </a:avLst>
          </a:prstGeom>
          <a:solidFill>
            <a:srgbClr val="F5F5F5"/>
          </a:solidFill>
          <a:ln/>
        </p:spPr>
      </p:sp>
      <p:sp>
        <p:nvSpPr>
          <p:cNvPr id="15" name="Text 13"/>
          <p:cNvSpPr/>
          <p:nvPr/>
        </p:nvSpPr>
        <p:spPr>
          <a:xfrm>
            <a:off x="1371600" y="214884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7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ポイント2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114800" y="2148840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D4F6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2階建て構造の活用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48640" y="2834640"/>
            <a:ext cx="457200" cy="548640"/>
          </a:xfrm>
          <a:prstGeom prst="rect">
            <a:avLst>
              <a:gd name="adj" fmla="val 10000"/>
            </a:avLst>
          </a:prstGeom>
          <a:solidFill>
            <a:srgbClr val="F97316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283464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27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1188720" y="2834640"/>
            <a:ext cx="7406640" cy="548640"/>
          </a:xfrm>
          <a:prstGeom prst="rect">
            <a:avLst>
              <a:gd name="adj" fmla="val 8333"/>
            </a:avLst>
          </a:prstGeom>
          <a:solidFill>
            <a:srgbClr val="F5F5F5"/>
          </a:solidFill>
          <a:ln/>
        </p:spPr>
      </p:sp>
      <p:sp>
        <p:nvSpPr>
          <p:cNvPr id="20" name="Text 18"/>
          <p:cNvSpPr/>
          <p:nvPr/>
        </p:nvSpPr>
        <p:spPr>
          <a:xfrm>
            <a:off x="1371600" y="283464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7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ポイント3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114800" y="2834640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D4F6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3点セットの徹底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48640" y="466344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200" dirty="0">
                <a:solidFill>
                  <a:srgbClr val="6B7B8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出所: テストデータ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27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2カラム比較のテスト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731520"/>
            <a:ext cx="1097280" cy="36576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822960"/>
            <a:ext cx="8046720" cy="457200"/>
          </a:xfrm>
          <a:prstGeom prst="rect">
            <a:avLst>
              <a:gd name="adj" fmla="val 10000"/>
            </a:avLst>
          </a:prstGeom>
          <a:solidFill>
            <a:srgbClr val="1A2744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822960"/>
            <a:ext cx="54864" cy="45720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822960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新手法が優位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1463040"/>
            <a:ext cx="3840480" cy="2926080"/>
          </a:xfrm>
          <a:prstGeom prst="rect">
            <a:avLst>
              <a:gd name="adj" fmla="val 3125"/>
            </a:avLst>
          </a:prstGeom>
          <a:solidFill>
            <a:srgbClr val="F5F5F5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1463040"/>
            <a:ext cx="3840480" cy="457200"/>
          </a:xfrm>
          <a:prstGeom prst="rect">
            <a:avLst>
              <a:gd name="adj" fmla="val 20000"/>
            </a:avLst>
          </a:prstGeom>
          <a:solidFill>
            <a:srgbClr val="1A2744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46304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従来手法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" y="2011680"/>
            <a:ext cx="34747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3D4F6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・手作業中心</a:t>
            </a:r>
            <a:endParaRPr lang="en-US" sz="16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3D4F6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・属人化しやすい</a:t>
            </a:r>
            <a:endParaRPr lang="en-US" sz="16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3D4F6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・コスト高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754880" y="1463040"/>
            <a:ext cx="3840480" cy="2926080"/>
          </a:xfrm>
          <a:prstGeom prst="rect">
            <a:avLst>
              <a:gd name="adj" fmla="val 3125"/>
            </a:avLst>
          </a:prstGeom>
          <a:solidFill>
            <a:srgbClr val="F5F5F5"/>
          </a:solidFill>
          <a:ln/>
        </p:spPr>
      </p:sp>
      <p:sp>
        <p:nvSpPr>
          <p:cNvPr id="12" name="Shape 10"/>
          <p:cNvSpPr/>
          <p:nvPr/>
        </p:nvSpPr>
        <p:spPr>
          <a:xfrm>
            <a:off x="4754880" y="1463040"/>
            <a:ext cx="3840480" cy="457200"/>
          </a:xfrm>
          <a:prstGeom prst="rect">
            <a:avLst>
              <a:gd name="adj" fmla="val 20000"/>
            </a:avLst>
          </a:prstGeom>
          <a:solidFill>
            <a:srgbClr val="F97316"/>
          </a:solidFill>
          <a:ln/>
        </p:spPr>
      </p:sp>
      <p:sp>
        <p:nvSpPr>
          <p:cNvPr id="13" name="Text 11"/>
          <p:cNvSpPr/>
          <p:nvPr/>
        </p:nvSpPr>
        <p:spPr>
          <a:xfrm>
            <a:off x="4754880" y="146304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27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新手法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937760" y="2011680"/>
            <a:ext cx="34747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3D4F6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・自動化</a:t>
            </a:r>
            <a:endParaRPr lang="en-US" sz="16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3D4F6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・標準化・再現性</a:t>
            </a:r>
            <a:endParaRPr lang="en-US" sz="16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3D4F6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・コスト30%削減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48640" y="466344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200" dirty="0">
                <a:solidFill>
                  <a:srgbClr val="6B7B8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出所: テストデータ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27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統計数値スライドのテスト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731520"/>
            <a:ext cx="1097280" cy="36576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822960"/>
            <a:ext cx="8046720" cy="457200"/>
          </a:xfrm>
          <a:prstGeom prst="rect">
            <a:avLst>
              <a:gd name="adj" fmla="val 10000"/>
            </a:avLst>
          </a:prstGeom>
          <a:solidFill>
            <a:srgbClr val="1A2744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822960"/>
            <a:ext cx="54864" cy="45720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822960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主要KPIを確認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1645920"/>
            <a:ext cx="2499360" cy="2560320"/>
          </a:xfrm>
          <a:prstGeom prst="rect">
            <a:avLst>
              <a:gd name="adj" fmla="val 3659"/>
            </a:avLst>
          </a:prstGeom>
          <a:solidFill>
            <a:srgbClr val="F5F5F5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920240"/>
            <a:ext cx="2499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A27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150%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548640" y="3017520"/>
            <a:ext cx="2499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27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成長率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" y="3474720"/>
            <a:ext cx="23164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D4F6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前年比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322320" y="1645920"/>
            <a:ext cx="2499360" cy="2560320"/>
          </a:xfrm>
          <a:prstGeom prst="rect">
            <a:avLst>
              <a:gd name="adj" fmla="val 3659"/>
            </a:avLst>
          </a:prstGeom>
          <a:solidFill>
            <a:srgbClr val="F5F5F5"/>
          </a:solidFill>
          <a:ln/>
        </p:spPr>
      </p:sp>
      <p:sp>
        <p:nvSpPr>
          <p:cNvPr id="12" name="Text 10"/>
          <p:cNvSpPr/>
          <p:nvPr/>
        </p:nvSpPr>
        <p:spPr>
          <a:xfrm>
            <a:off x="3322320" y="1920240"/>
            <a:ext cx="2499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A27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98%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3322320" y="3017520"/>
            <a:ext cx="2499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27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顧客満足度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413760" y="3474720"/>
            <a:ext cx="23164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D4F6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アンケート結果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096000" y="1645920"/>
            <a:ext cx="2499360" cy="2560320"/>
          </a:xfrm>
          <a:prstGeom prst="rect">
            <a:avLst>
              <a:gd name="adj" fmla="val 3659"/>
            </a:avLst>
          </a:prstGeom>
          <a:solidFill>
            <a:srgbClr val="F5F5F5"/>
          </a:solidFill>
          <a:ln/>
        </p:spPr>
      </p:sp>
      <p:sp>
        <p:nvSpPr>
          <p:cNvPr id="16" name="Text 14"/>
          <p:cNvSpPr/>
          <p:nvPr/>
        </p:nvSpPr>
        <p:spPr>
          <a:xfrm>
            <a:off x="6096000" y="1920240"/>
            <a:ext cx="2499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A27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¥5.2M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6096000" y="3017520"/>
            <a:ext cx="2499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27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売上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187440" y="3474720"/>
            <a:ext cx="23164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D4F6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月間平均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48640" y="466344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200" dirty="0">
                <a:solidFill>
                  <a:srgbClr val="6B7B8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出所: テストデータ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31520"/>
            <a:ext cx="3657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F9731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02</a:t>
            </a:r>
            <a:endParaRPr lang="en-US" sz="8000" dirty="0"/>
          </a:p>
        </p:txBody>
      </p:sp>
      <p:sp>
        <p:nvSpPr>
          <p:cNvPr id="4" name="Shape 2"/>
          <p:cNvSpPr/>
          <p:nvPr/>
        </p:nvSpPr>
        <p:spPr>
          <a:xfrm>
            <a:off x="548640" y="2651760"/>
            <a:ext cx="1828800" cy="54864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292608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V2追加パターン</a:t>
            </a:r>
            <a:endParaRPr lang="en-US" sz="3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27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四半期別売上推移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731520"/>
            <a:ext cx="1097280" cy="36576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822960"/>
            <a:ext cx="8046720" cy="457200"/>
          </a:xfrm>
          <a:prstGeom prst="rect">
            <a:avLst>
              <a:gd name="adj" fmla="val 10000"/>
            </a:avLst>
          </a:prstGeom>
          <a:solidFill>
            <a:srgbClr val="1A2744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822960"/>
            <a:ext cx="54864" cy="45720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822960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2024年は全四半期で前年を上回る</a:t>
            </a:r>
            <a:endParaRPr lang="en-US" sz="16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548640" y="1463040"/>
          <a:ext cx="530352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5"/>
          <p:cNvSpPr/>
          <p:nvPr/>
        </p:nvSpPr>
        <p:spPr>
          <a:xfrm>
            <a:off x="6035040" y="1463040"/>
            <a:ext cx="2560320" cy="3017520"/>
          </a:xfrm>
          <a:prstGeom prst="rect">
            <a:avLst>
              <a:gd name="adj" fmla="val 3571"/>
            </a:avLst>
          </a:prstGeom>
          <a:solidFill>
            <a:srgbClr val="F5F5F5"/>
          </a:solidFill>
          <a:ln/>
        </p:spPr>
      </p:sp>
      <p:sp>
        <p:nvSpPr>
          <p:cNvPr id="9" name="Text 6"/>
          <p:cNvSpPr/>
          <p:nvPr/>
        </p:nvSpPr>
        <p:spPr>
          <a:xfrm>
            <a:off x="6217920" y="164592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7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ポイント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6217920" y="2103120"/>
            <a:ext cx="219456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3D4F6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・Q4が最も成長</a:t>
            </a:r>
            <a:endParaRPr lang="en-US" sz="16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3D4F6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・前年比+19%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548640" y="466344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200" dirty="0">
                <a:solidFill>
                  <a:srgbClr val="6B7B8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出所: 社内データ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27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プロジェクト推進フロー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731520"/>
            <a:ext cx="1097280" cy="36576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822960"/>
            <a:ext cx="8046720" cy="457200"/>
          </a:xfrm>
          <a:prstGeom prst="rect">
            <a:avLst>
              <a:gd name="adj" fmla="val 10000"/>
            </a:avLst>
          </a:prstGeom>
          <a:solidFill>
            <a:srgbClr val="1A2744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822960"/>
            <a:ext cx="54864" cy="45720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822960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4つのフェーズで推進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1554480"/>
            <a:ext cx="1600200" cy="640080"/>
          </a:xfrm>
          <a:prstGeom prst="rect">
            <a:avLst>
              <a:gd name="adj" fmla="val 11429"/>
            </a:avLst>
          </a:prstGeom>
          <a:solidFill>
            <a:srgbClr val="1A2744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554480"/>
            <a:ext cx="1600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企画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286000" y="1554480"/>
            <a:ext cx="274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9731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▶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8640" y="2377440"/>
            <a:ext cx="1600200" cy="2011680"/>
          </a:xfrm>
          <a:prstGeom prst="rect">
            <a:avLst>
              <a:gd name="adj" fmla="val 4571"/>
            </a:avLst>
          </a:prstGeom>
          <a:solidFill>
            <a:srgbClr val="F5F5F5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468880"/>
            <a:ext cx="14173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D4F6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・要件定義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D4F6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・スコープ設定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2697480" y="1554480"/>
            <a:ext cx="1600200" cy="640080"/>
          </a:xfrm>
          <a:prstGeom prst="rect">
            <a:avLst>
              <a:gd name="adj" fmla="val 11429"/>
            </a:avLst>
          </a:prstGeom>
          <a:solidFill>
            <a:srgbClr val="1A2744"/>
          </a:solidFill>
          <a:ln/>
        </p:spPr>
      </p:sp>
      <p:sp>
        <p:nvSpPr>
          <p:cNvPr id="13" name="Text 11"/>
          <p:cNvSpPr/>
          <p:nvPr/>
        </p:nvSpPr>
        <p:spPr>
          <a:xfrm>
            <a:off x="2697480" y="1554480"/>
            <a:ext cx="1600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設計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434840" y="1554480"/>
            <a:ext cx="274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9731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▶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2697480" y="2377440"/>
            <a:ext cx="1600200" cy="2011680"/>
          </a:xfrm>
          <a:prstGeom prst="rect">
            <a:avLst>
              <a:gd name="adj" fmla="val 4571"/>
            </a:avLst>
          </a:prstGeom>
          <a:solidFill>
            <a:srgbClr val="F5F5F5"/>
          </a:solidFill>
          <a:ln/>
        </p:spPr>
      </p:sp>
      <p:sp>
        <p:nvSpPr>
          <p:cNvPr id="16" name="Text 14"/>
          <p:cNvSpPr/>
          <p:nvPr/>
        </p:nvSpPr>
        <p:spPr>
          <a:xfrm>
            <a:off x="2788920" y="2468880"/>
            <a:ext cx="14173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D4F6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・アーキテクチャ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D4F6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・UI/UXデザイン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846320" y="1554480"/>
            <a:ext cx="1600200" cy="640080"/>
          </a:xfrm>
          <a:prstGeom prst="rect">
            <a:avLst>
              <a:gd name="adj" fmla="val 11429"/>
            </a:avLst>
          </a:prstGeom>
          <a:solidFill>
            <a:srgbClr val="1A2744"/>
          </a:solidFill>
          <a:ln/>
        </p:spPr>
      </p:sp>
      <p:sp>
        <p:nvSpPr>
          <p:cNvPr id="18" name="Text 16"/>
          <p:cNvSpPr/>
          <p:nvPr/>
        </p:nvSpPr>
        <p:spPr>
          <a:xfrm>
            <a:off x="4846320" y="1554480"/>
            <a:ext cx="1600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開発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583680" y="1554480"/>
            <a:ext cx="274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9731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▶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846320" y="2377440"/>
            <a:ext cx="1600200" cy="2011680"/>
          </a:xfrm>
          <a:prstGeom prst="rect">
            <a:avLst>
              <a:gd name="adj" fmla="val 4571"/>
            </a:avLst>
          </a:prstGeom>
          <a:solidFill>
            <a:srgbClr val="F5F5F5"/>
          </a:solidFill>
          <a:ln/>
        </p:spPr>
      </p:sp>
      <p:sp>
        <p:nvSpPr>
          <p:cNvPr id="21" name="Text 19"/>
          <p:cNvSpPr/>
          <p:nvPr/>
        </p:nvSpPr>
        <p:spPr>
          <a:xfrm>
            <a:off x="4937760" y="2468880"/>
            <a:ext cx="14173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D4F6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・実装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D4F6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・テスト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995160" y="1554480"/>
            <a:ext cx="1600200" cy="640080"/>
          </a:xfrm>
          <a:prstGeom prst="rect">
            <a:avLst>
              <a:gd name="adj" fmla="val 11429"/>
            </a:avLst>
          </a:prstGeom>
          <a:solidFill>
            <a:srgbClr val="1A2744"/>
          </a:solidFill>
          <a:ln/>
        </p:spPr>
      </p:sp>
      <p:sp>
        <p:nvSpPr>
          <p:cNvPr id="23" name="Text 21"/>
          <p:cNvSpPr/>
          <p:nvPr/>
        </p:nvSpPr>
        <p:spPr>
          <a:xfrm>
            <a:off x="6995160" y="1554480"/>
            <a:ext cx="1600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運用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995160" y="2377440"/>
            <a:ext cx="1600200" cy="2011680"/>
          </a:xfrm>
          <a:prstGeom prst="rect">
            <a:avLst>
              <a:gd name="adj" fmla="val 4571"/>
            </a:avLst>
          </a:prstGeom>
          <a:solidFill>
            <a:srgbClr val="F5F5F5"/>
          </a:solidFill>
          <a:ln/>
        </p:spPr>
      </p:sp>
      <p:sp>
        <p:nvSpPr>
          <p:cNvPr id="25" name="Text 23"/>
          <p:cNvSpPr/>
          <p:nvPr/>
        </p:nvSpPr>
        <p:spPr>
          <a:xfrm>
            <a:off x="7086600" y="2468880"/>
            <a:ext cx="14173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D4F6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・デプロイ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D4F6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・モニタリング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48640" y="466344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200" dirty="0">
                <a:solidFill>
                  <a:srgbClr val="6B7B8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出所: テストデータ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27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意思決定プロセス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731520"/>
            <a:ext cx="1097280" cy="36576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822960"/>
            <a:ext cx="8046720" cy="457200"/>
          </a:xfrm>
          <a:prstGeom prst="rect">
            <a:avLst>
              <a:gd name="adj" fmla="val 10000"/>
            </a:avLst>
          </a:prstGeom>
          <a:solidFill>
            <a:srgbClr val="1A2744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822960"/>
            <a:ext cx="54864" cy="45720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822960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3段階の承認フロー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1554480"/>
            <a:ext cx="2743200" cy="792480"/>
          </a:xfrm>
          <a:prstGeom prst="rect">
            <a:avLst>
              <a:gd name="adj" fmla="val 9231"/>
            </a:avLst>
          </a:prstGeom>
          <a:solidFill>
            <a:srgbClr val="1A2744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554480"/>
            <a:ext cx="2743200" cy="792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Step 1: 起案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657600" y="1554480"/>
            <a:ext cx="4937760" cy="792480"/>
          </a:xfrm>
          <a:prstGeom prst="rect">
            <a:avLst>
              <a:gd name="adj" fmla="val 9231"/>
            </a:avLst>
          </a:prstGeom>
          <a:solidFill>
            <a:srgbClr val="F5F5F5"/>
          </a:solidFill>
          <a:ln/>
        </p:spPr>
      </p:sp>
      <p:sp>
        <p:nvSpPr>
          <p:cNvPr id="10" name="Text 8"/>
          <p:cNvSpPr/>
          <p:nvPr/>
        </p:nvSpPr>
        <p:spPr>
          <a:xfrm>
            <a:off x="3840480" y="1554480"/>
            <a:ext cx="4572000" cy="792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D4F6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担当者が企画書を作成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48640" y="234696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9731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▼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2575560"/>
            <a:ext cx="2743200" cy="792480"/>
          </a:xfrm>
          <a:prstGeom prst="rect">
            <a:avLst>
              <a:gd name="adj" fmla="val 9231"/>
            </a:avLst>
          </a:prstGeom>
          <a:solidFill>
            <a:srgbClr val="1A2744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2575560"/>
            <a:ext cx="2743200" cy="792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Step 2: レビュー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657600" y="2575560"/>
            <a:ext cx="4937760" cy="792480"/>
          </a:xfrm>
          <a:prstGeom prst="rect">
            <a:avLst>
              <a:gd name="adj" fmla="val 9231"/>
            </a:avLst>
          </a:prstGeom>
          <a:solidFill>
            <a:srgbClr val="F5F5F5"/>
          </a:solidFill>
          <a:ln/>
        </p:spPr>
      </p:sp>
      <p:sp>
        <p:nvSpPr>
          <p:cNvPr id="15" name="Text 13"/>
          <p:cNvSpPr/>
          <p:nvPr/>
        </p:nvSpPr>
        <p:spPr>
          <a:xfrm>
            <a:off x="3840480" y="2575560"/>
            <a:ext cx="4572000" cy="792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D4F6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リーダーが内容を精査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48640" y="336804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9731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▼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3596640"/>
            <a:ext cx="2743200" cy="792480"/>
          </a:xfrm>
          <a:prstGeom prst="rect">
            <a:avLst>
              <a:gd name="adj" fmla="val 9231"/>
            </a:avLst>
          </a:prstGeom>
          <a:solidFill>
            <a:srgbClr val="1A2744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3596640"/>
            <a:ext cx="2743200" cy="792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Step 3: 承認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3657600" y="3596640"/>
            <a:ext cx="4937760" cy="792480"/>
          </a:xfrm>
          <a:prstGeom prst="rect">
            <a:avLst>
              <a:gd name="adj" fmla="val 9231"/>
            </a:avLst>
          </a:prstGeom>
          <a:solidFill>
            <a:srgbClr val="F5F5F5"/>
          </a:solidFill>
          <a:ln/>
        </p:spPr>
      </p:sp>
      <p:sp>
        <p:nvSpPr>
          <p:cNvPr id="20" name="Text 18"/>
          <p:cNvSpPr/>
          <p:nvPr/>
        </p:nvSpPr>
        <p:spPr>
          <a:xfrm>
            <a:off x="3840480" y="3596640"/>
            <a:ext cx="4572000" cy="792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D4F6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部門長が最終承認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48640" y="466344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200" dirty="0">
                <a:solidFill>
                  <a:srgbClr val="6B7B8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出所: テストデータ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27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従来手法 vs 新手法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731520"/>
            <a:ext cx="1097280" cy="36576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822960"/>
            <a:ext cx="8046720" cy="457200"/>
          </a:xfrm>
          <a:prstGeom prst="rect">
            <a:avLst>
              <a:gd name="adj" fmla="val 10000"/>
            </a:avLst>
          </a:prstGeom>
          <a:solidFill>
            <a:srgbClr val="1A2744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822960"/>
            <a:ext cx="54864" cy="45720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822960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新手法でコスト30%削減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1463040"/>
            <a:ext cx="3840480" cy="502920"/>
          </a:xfrm>
          <a:prstGeom prst="rect">
            <a:avLst>
              <a:gd name="adj" fmla="val 14545"/>
            </a:avLst>
          </a:prstGeom>
          <a:solidFill>
            <a:srgbClr val="6B7B8D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46304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従来手法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1965960"/>
            <a:ext cx="3840480" cy="2743200"/>
          </a:xfrm>
          <a:prstGeom prst="rect">
            <a:avLst>
              <a:gd name="adj" fmla="val 2667"/>
            </a:avLst>
          </a:prstGeom>
          <a:solidFill>
            <a:srgbClr val="F5F5F5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148840"/>
            <a:ext cx="347472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3D4F6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・手作業中心</a:t>
            </a:r>
            <a:endParaRPr lang="en-US" sz="16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3D4F6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・属人化しやすい</a:t>
            </a:r>
            <a:endParaRPr lang="en-US" sz="16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3D4F6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・コスト高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389120" y="1463040"/>
            <a:ext cx="365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27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VS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754880" y="1463040"/>
            <a:ext cx="3840480" cy="502920"/>
          </a:xfrm>
          <a:prstGeom prst="rect">
            <a:avLst>
              <a:gd name="adj" fmla="val 14545"/>
            </a:avLst>
          </a:prstGeom>
          <a:solidFill>
            <a:srgbClr val="1A2744"/>
          </a:solidFill>
          <a:ln/>
        </p:spPr>
      </p:sp>
      <p:sp>
        <p:nvSpPr>
          <p:cNvPr id="13" name="Text 11"/>
          <p:cNvSpPr/>
          <p:nvPr/>
        </p:nvSpPr>
        <p:spPr>
          <a:xfrm>
            <a:off x="4754880" y="146304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新手法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754880" y="1965960"/>
            <a:ext cx="3840480" cy="2743200"/>
          </a:xfrm>
          <a:prstGeom prst="rect">
            <a:avLst>
              <a:gd name="adj" fmla="val 2667"/>
            </a:avLst>
          </a:prstGeom>
          <a:solidFill>
            <a:srgbClr val="F5F5F5"/>
          </a:solidFill>
          <a:ln/>
        </p:spPr>
      </p:sp>
      <p:sp>
        <p:nvSpPr>
          <p:cNvPr id="15" name="Text 13"/>
          <p:cNvSpPr/>
          <p:nvPr/>
        </p:nvSpPr>
        <p:spPr>
          <a:xfrm>
            <a:off x="4937760" y="2148840"/>
            <a:ext cx="347472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3D4F6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・自動化</a:t>
            </a:r>
            <a:endParaRPr lang="en-US" sz="16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3D4F6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・標準化・再現性</a:t>
            </a:r>
            <a:endParaRPr lang="en-US" sz="16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3D4F6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・コスト30%削減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48640" y="466344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200" dirty="0">
                <a:solidFill>
                  <a:srgbClr val="6B7B8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出所: テストデータ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27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事業ポートフォリオ分析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731520"/>
            <a:ext cx="1097280" cy="36576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822960"/>
            <a:ext cx="8046720" cy="457200"/>
          </a:xfrm>
          <a:prstGeom prst="rect">
            <a:avLst>
              <a:gd name="adj" fmla="val 10000"/>
            </a:avLst>
          </a:prstGeom>
          <a:solidFill>
            <a:srgbClr val="1A2744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822960"/>
            <a:ext cx="54864" cy="45720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822960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成長率と市場シェアで分類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234440" y="1600200"/>
            <a:ext cx="3291840" cy="1371600"/>
          </a:xfrm>
          <a:prstGeom prst="rect">
            <a:avLst>
              <a:gd name="adj" fmla="val 5333"/>
            </a:avLst>
          </a:prstGeom>
          <a:solidFill>
            <a:srgbClr val="F5F5F5"/>
          </a:solidFill>
          <a:ln/>
        </p:spPr>
      </p:sp>
      <p:sp>
        <p:nvSpPr>
          <p:cNvPr id="8" name="Text 6"/>
          <p:cNvSpPr/>
          <p:nvPr/>
        </p:nvSpPr>
        <p:spPr>
          <a:xfrm>
            <a:off x="1325880" y="169164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A27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問題児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25880" y="214884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D4F6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高成長・低シェア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617720" y="1600200"/>
            <a:ext cx="3291840" cy="1371600"/>
          </a:xfrm>
          <a:prstGeom prst="rect">
            <a:avLst>
              <a:gd name="adj" fmla="val 5333"/>
            </a:avLst>
          </a:prstGeom>
          <a:solidFill>
            <a:srgbClr val="D5E8D4"/>
          </a:solidFill>
          <a:ln/>
        </p:spPr>
      </p:sp>
      <p:sp>
        <p:nvSpPr>
          <p:cNvPr id="11" name="Text 9"/>
          <p:cNvSpPr/>
          <p:nvPr/>
        </p:nvSpPr>
        <p:spPr>
          <a:xfrm>
            <a:off x="4709160" y="169164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A27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花形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709160" y="214884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D4F6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高成長・高シェア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234440" y="3063240"/>
            <a:ext cx="3291840" cy="1371600"/>
          </a:xfrm>
          <a:prstGeom prst="rect">
            <a:avLst>
              <a:gd name="adj" fmla="val 5333"/>
            </a:avLst>
          </a:prstGeom>
          <a:solidFill>
            <a:srgbClr val="F5F5F5"/>
          </a:solidFill>
          <a:ln/>
        </p:spPr>
      </p:sp>
      <p:sp>
        <p:nvSpPr>
          <p:cNvPr id="14" name="Text 12"/>
          <p:cNvSpPr/>
          <p:nvPr/>
        </p:nvSpPr>
        <p:spPr>
          <a:xfrm>
            <a:off x="1325880" y="315468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A27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負け犬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325880" y="361188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D4F6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低成長・低シェア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617720" y="3063240"/>
            <a:ext cx="3291840" cy="1371600"/>
          </a:xfrm>
          <a:prstGeom prst="rect">
            <a:avLst>
              <a:gd name="adj" fmla="val 5333"/>
            </a:avLst>
          </a:prstGeom>
          <a:solidFill>
            <a:srgbClr val="FFF2CC"/>
          </a:solidFill>
          <a:ln/>
        </p:spPr>
      </p:sp>
      <p:sp>
        <p:nvSpPr>
          <p:cNvPr id="17" name="Text 15"/>
          <p:cNvSpPr/>
          <p:nvPr/>
        </p:nvSpPr>
        <p:spPr>
          <a:xfrm>
            <a:off x="4709160" y="315468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A27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金のなる木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709160" y="361188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D4F6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低成長・高シェア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 rot="16200000">
            <a:off x="548640" y="15544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B8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成長率 高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 rot="16200000">
            <a:off x="548640" y="4206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B8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成長率 低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280160" y="452628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B8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市場シェア 低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72000" y="452628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B8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市場シェア 高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409944" y="1920240"/>
            <a:ext cx="274320" cy="274320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24" name="Text 22"/>
          <p:cNvSpPr/>
          <p:nvPr/>
        </p:nvSpPr>
        <p:spPr>
          <a:xfrm>
            <a:off x="6729984" y="196596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7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事業A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118104" y="2194560"/>
            <a:ext cx="274320" cy="274320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26" name="Text 24"/>
          <p:cNvSpPr/>
          <p:nvPr/>
        </p:nvSpPr>
        <p:spPr>
          <a:xfrm>
            <a:off x="3438144" y="224028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7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事業B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48640" y="466344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200" dirty="0">
                <a:solidFill>
                  <a:srgbClr val="6B7B8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出所: テストデータ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27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PDCAサイクル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731520"/>
            <a:ext cx="1097280" cy="36576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822960"/>
            <a:ext cx="8046720" cy="457200"/>
          </a:xfrm>
          <a:prstGeom prst="rect">
            <a:avLst>
              <a:gd name="adj" fmla="val 10000"/>
            </a:avLst>
          </a:prstGeom>
          <a:solidFill>
            <a:srgbClr val="1A2744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822960"/>
            <a:ext cx="54864" cy="45720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822960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継続的改善の4ステップ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840480" y="1417320"/>
            <a:ext cx="1463040" cy="640080"/>
          </a:xfrm>
          <a:prstGeom prst="rect">
            <a:avLst>
              <a:gd name="adj" fmla="val 14286"/>
            </a:avLst>
          </a:prstGeom>
          <a:solidFill>
            <a:srgbClr val="1A2744"/>
          </a:solidFill>
          <a:ln/>
        </p:spPr>
      </p:sp>
      <p:sp>
        <p:nvSpPr>
          <p:cNvPr id="8" name="Text 6"/>
          <p:cNvSpPr/>
          <p:nvPr/>
        </p:nvSpPr>
        <p:spPr>
          <a:xfrm>
            <a:off x="3840480" y="141732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Plan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 rot="2700000">
            <a:off x="5113747" y="2292893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9731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212080" y="2788920"/>
            <a:ext cx="1463040" cy="640080"/>
          </a:xfrm>
          <a:prstGeom prst="rect">
            <a:avLst>
              <a:gd name="adj" fmla="val 14286"/>
            </a:avLst>
          </a:prstGeom>
          <a:solidFill>
            <a:srgbClr val="1A2744"/>
          </a:solidFill>
          <a:ln/>
        </p:spPr>
      </p:sp>
      <p:sp>
        <p:nvSpPr>
          <p:cNvPr id="11" name="Text 9"/>
          <p:cNvSpPr/>
          <p:nvPr/>
        </p:nvSpPr>
        <p:spPr>
          <a:xfrm>
            <a:off x="5212080" y="278892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Do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 rot="8100000">
            <a:off x="5113747" y="3650707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9731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840480" y="4160520"/>
            <a:ext cx="1463040" cy="640080"/>
          </a:xfrm>
          <a:prstGeom prst="rect">
            <a:avLst>
              <a:gd name="adj" fmla="val 14286"/>
            </a:avLst>
          </a:prstGeom>
          <a:solidFill>
            <a:srgbClr val="1A2744"/>
          </a:solidFill>
          <a:ln/>
        </p:spPr>
      </p:sp>
      <p:sp>
        <p:nvSpPr>
          <p:cNvPr id="14" name="Text 12"/>
          <p:cNvSpPr/>
          <p:nvPr/>
        </p:nvSpPr>
        <p:spPr>
          <a:xfrm>
            <a:off x="3840480" y="416052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Check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 rot="13500000">
            <a:off x="3755933" y="3650707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9731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2468880" y="2788920"/>
            <a:ext cx="1463040" cy="640080"/>
          </a:xfrm>
          <a:prstGeom prst="rect">
            <a:avLst>
              <a:gd name="adj" fmla="val 14286"/>
            </a:avLst>
          </a:prstGeom>
          <a:solidFill>
            <a:srgbClr val="1A2744"/>
          </a:solidFill>
          <a:ln/>
        </p:spPr>
      </p:sp>
      <p:sp>
        <p:nvSpPr>
          <p:cNvPr id="17" name="Text 15"/>
          <p:cNvSpPr/>
          <p:nvPr/>
        </p:nvSpPr>
        <p:spPr>
          <a:xfrm>
            <a:off x="2468880" y="278892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Act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 rot="18900000">
            <a:off x="3755933" y="2292893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9731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48640" y="466344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200" dirty="0">
                <a:solidFill>
                  <a:srgbClr val="6B7B8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出所: テストデータ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27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プロジェクトスケジュール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731520"/>
            <a:ext cx="1097280" cy="36576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822960"/>
            <a:ext cx="8046720" cy="457200"/>
          </a:xfrm>
          <a:prstGeom prst="rect">
            <a:avLst>
              <a:gd name="adj" fmla="val 10000"/>
            </a:avLst>
          </a:prstGeom>
          <a:solidFill>
            <a:srgbClr val="1A2744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822960"/>
            <a:ext cx="54864" cy="45720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822960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6ヶ月間のロードマップ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1463040"/>
            <a:ext cx="8046720" cy="41148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46304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タスク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194560" y="1463040"/>
            <a:ext cx="1066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1月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261360" y="1463040"/>
            <a:ext cx="1066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2月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328160" y="1463040"/>
            <a:ext cx="1066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3月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394960" y="1463040"/>
            <a:ext cx="1066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4月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61760" y="1463040"/>
            <a:ext cx="1066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5月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528560" y="1463040"/>
            <a:ext cx="1066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6月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1874520"/>
            <a:ext cx="8046720" cy="4572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18745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6350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7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要件定義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194560" y="1965960"/>
            <a:ext cx="2133600" cy="274320"/>
          </a:xfrm>
          <a:prstGeom prst="rect">
            <a:avLst>
              <a:gd name="adj" fmla="val 16667"/>
            </a:avLst>
          </a:prstGeom>
          <a:solidFill>
            <a:srgbClr val="1A2744"/>
          </a:solidFill>
          <a:ln/>
        </p:spPr>
      </p:sp>
      <p:sp>
        <p:nvSpPr>
          <p:cNvPr id="18" name="Shape 16"/>
          <p:cNvSpPr/>
          <p:nvPr/>
        </p:nvSpPr>
        <p:spPr>
          <a:xfrm>
            <a:off x="548640" y="2331720"/>
            <a:ext cx="804672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23317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6350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7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設計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261360" y="2423160"/>
            <a:ext cx="2133600" cy="274320"/>
          </a:xfrm>
          <a:prstGeom prst="rect">
            <a:avLst>
              <a:gd name="adj" fmla="val 16667"/>
            </a:avLst>
          </a:prstGeom>
          <a:solidFill>
            <a:srgbClr val="1A2744"/>
          </a:solidFill>
          <a:ln/>
        </p:spPr>
      </p:sp>
      <p:sp>
        <p:nvSpPr>
          <p:cNvPr id="21" name="Shape 19"/>
          <p:cNvSpPr/>
          <p:nvPr/>
        </p:nvSpPr>
        <p:spPr>
          <a:xfrm>
            <a:off x="548640" y="2788920"/>
            <a:ext cx="8046720" cy="4572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27889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6350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7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開発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328160" y="2880360"/>
            <a:ext cx="3200400" cy="274320"/>
          </a:xfrm>
          <a:prstGeom prst="rect">
            <a:avLst>
              <a:gd name="adj" fmla="val 16667"/>
            </a:avLst>
          </a:prstGeom>
          <a:solidFill>
            <a:srgbClr val="1A2744"/>
          </a:solidFill>
          <a:ln/>
        </p:spPr>
      </p:sp>
      <p:sp>
        <p:nvSpPr>
          <p:cNvPr id="24" name="Shape 22"/>
          <p:cNvSpPr/>
          <p:nvPr/>
        </p:nvSpPr>
        <p:spPr>
          <a:xfrm>
            <a:off x="548640" y="3246120"/>
            <a:ext cx="804672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" y="32461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6350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7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テスト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461760" y="3337560"/>
            <a:ext cx="2133600" cy="274320"/>
          </a:xfrm>
          <a:prstGeom prst="rect">
            <a:avLst>
              <a:gd name="adj" fmla="val 16667"/>
            </a:avLst>
          </a:prstGeom>
          <a:solidFill>
            <a:srgbClr val="1A2744"/>
          </a:solidFill>
          <a:ln/>
        </p:spPr>
      </p:sp>
      <p:sp>
        <p:nvSpPr>
          <p:cNvPr id="27" name="Text 25"/>
          <p:cNvSpPr/>
          <p:nvPr/>
        </p:nvSpPr>
        <p:spPr>
          <a:xfrm>
            <a:off x="548640" y="466344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200" dirty="0">
                <a:solidFill>
                  <a:srgbClr val="6B7B8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出所: テストデータ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27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プラン比較表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731520"/>
            <a:ext cx="1097280" cy="36576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822960"/>
            <a:ext cx="8046720" cy="457200"/>
          </a:xfrm>
          <a:prstGeom prst="rect">
            <a:avLst>
              <a:gd name="adj" fmla="val 10000"/>
            </a:avLst>
          </a:prstGeom>
          <a:solidFill>
            <a:srgbClr val="1A2744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822960"/>
            <a:ext cx="54864" cy="45720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822960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3つのプランから選択</a:t>
            </a:r>
            <a:endParaRPr lang="en-US" sz="16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804672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2072640"/>
                <a:gridCol w="2072640"/>
                <a:gridCol w="207264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機能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Basic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Standard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Premium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A2744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ユーザー数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744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5名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744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50名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744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無制限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A2744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ストレージ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744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10GB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744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100GB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744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1TB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A2744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月額料金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744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¥980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744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¥4,980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744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¥19,800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48640" y="466344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200" dirty="0">
                <a:solidFill>
                  <a:srgbClr val="6B7B8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出所: テストデータ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27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市場環境の変化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731520"/>
            <a:ext cx="1097280" cy="36576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822960"/>
            <a:ext cx="8046720" cy="457200"/>
          </a:xfrm>
          <a:prstGeom prst="rect">
            <a:avLst>
              <a:gd name="adj" fmla="val 10000"/>
            </a:avLst>
          </a:prstGeom>
          <a:solidFill>
            <a:srgbClr val="1A2744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822960"/>
            <a:ext cx="54864" cy="45720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822960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3つの外部要因が影響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1554480"/>
            <a:ext cx="1828800" cy="2743200"/>
          </a:xfrm>
          <a:prstGeom prst="rect">
            <a:avLst>
              <a:gd name="adj" fmla="val 5000"/>
            </a:avLst>
          </a:prstGeom>
          <a:solidFill>
            <a:srgbClr val="1A2744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554480"/>
            <a:ext cx="18288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外部環境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743200" y="1645920"/>
            <a:ext cx="457200" cy="731520"/>
          </a:xfrm>
          <a:prstGeom prst="rect">
            <a:avLst>
              <a:gd name="adj" fmla="val 10000"/>
            </a:avLst>
          </a:prstGeom>
          <a:solidFill>
            <a:srgbClr val="F97316"/>
          </a:solidFill>
          <a:ln/>
        </p:spPr>
      </p:sp>
      <p:sp>
        <p:nvSpPr>
          <p:cNvPr id="10" name="Text 8"/>
          <p:cNvSpPr/>
          <p:nvPr/>
        </p:nvSpPr>
        <p:spPr>
          <a:xfrm>
            <a:off x="2743200" y="1645920"/>
            <a:ext cx="457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27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3337560" y="1645920"/>
            <a:ext cx="5257800" cy="731520"/>
          </a:xfrm>
          <a:prstGeom prst="rect">
            <a:avLst>
              <a:gd name="adj" fmla="val 6250"/>
            </a:avLst>
          </a:prstGeom>
          <a:solidFill>
            <a:srgbClr val="F5F5F5"/>
          </a:solidFill>
          <a:ln/>
        </p:spPr>
      </p:sp>
      <p:sp>
        <p:nvSpPr>
          <p:cNvPr id="12" name="Text 10"/>
          <p:cNvSpPr/>
          <p:nvPr/>
        </p:nvSpPr>
        <p:spPr>
          <a:xfrm>
            <a:off x="3474720" y="164592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7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技術革新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303520" y="1645920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D4F6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AI技術の急速な進展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2743200" y="2560320"/>
            <a:ext cx="457200" cy="731520"/>
          </a:xfrm>
          <a:prstGeom prst="rect">
            <a:avLst>
              <a:gd name="adj" fmla="val 10000"/>
            </a:avLst>
          </a:prstGeom>
          <a:solidFill>
            <a:srgbClr val="F97316"/>
          </a:solidFill>
          <a:ln/>
        </p:spPr>
      </p:sp>
      <p:sp>
        <p:nvSpPr>
          <p:cNvPr id="15" name="Text 13"/>
          <p:cNvSpPr/>
          <p:nvPr/>
        </p:nvSpPr>
        <p:spPr>
          <a:xfrm>
            <a:off x="2743200" y="2560320"/>
            <a:ext cx="457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27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3337560" y="2560320"/>
            <a:ext cx="5257800" cy="731520"/>
          </a:xfrm>
          <a:prstGeom prst="rect">
            <a:avLst>
              <a:gd name="adj" fmla="val 6250"/>
            </a:avLst>
          </a:prstGeom>
          <a:solidFill>
            <a:srgbClr val="F5F5F5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0" y="256032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7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規制変更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303520" y="2560320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D4F6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データ保護規制の強化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2743200" y="3474720"/>
            <a:ext cx="457200" cy="731520"/>
          </a:xfrm>
          <a:prstGeom prst="rect">
            <a:avLst>
              <a:gd name="adj" fmla="val 10000"/>
            </a:avLst>
          </a:prstGeom>
          <a:solidFill>
            <a:srgbClr val="F97316"/>
          </a:solidFill>
          <a:ln/>
        </p:spPr>
      </p:sp>
      <p:sp>
        <p:nvSpPr>
          <p:cNvPr id="20" name="Text 18"/>
          <p:cNvSpPr/>
          <p:nvPr/>
        </p:nvSpPr>
        <p:spPr>
          <a:xfrm>
            <a:off x="2743200" y="3474720"/>
            <a:ext cx="457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27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3337560" y="3474720"/>
            <a:ext cx="5257800" cy="731520"/>
          </a:xfrm>
          <a:prstGeom prst="rect">
            <a:avLst>
              <a:gd name="adj" fmla="val 6250"/>
            </a:avLst>
          </a:prstGeom>
          <a:solidFill>
            <a:srgbClr val="F5F5F5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0" y="347472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7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競合動向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303520" y="3474720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D4F6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新規参入者の増加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48640" y="466344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200" dirty="0">
                <a:solidFill>
                  <a:srgbClr val="6B7B8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出所: テストデータ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27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サービス展開戦略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731520"/>
            <a:ext cx="1097280" cy="36576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822960"/>
            <a:ext cx="8046720" cy="457200"/>
          </a:xfrm>
          <a:prstGeom prst="rect">
            <a:avLst>
              <a:gd name="adj" fmla="val 10000"/>
            </a:avLst>
          </a:prstGeom>
          <a:solidFill>
            <a:srgbClr val="1A2744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822960"/>
            <a:ext cx="54864" cy="45720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822960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コアから3領域に展開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1645920"/>
            <a:ext cx="2011680" cy="2560320"/>
          </a:xfrm>
          <a:prstGeom prst="rect">
            <a:avLst>
              <a:gd name="adj" fmla="val 4545"/>
            </a:avLst>
          </a:prstGeom>
          <a:solidFill>
            <a:srgbClr val="1A2744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645920"/>
            <a:ext cx="201168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コア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プラットフォーム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2560320" y="16459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9731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▶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291840" y="1645920"/>
            <a:ext cx="1828800" cy="731520"/>
          </a:xfrm>
          <a:prstGeom prst="rect">
            <a:avLst>
              <a:gd name="adj" fmla="val 10000"/>
            </a:avLst>
          </a:prstGeom>
          <a:solidFill>
            <a:srgbClr val="F97316"/>
          </a:solidFill>
          <a:ln/>
        </p:spPr>
      </p:sp>
      <p:sp>
        <p:nvSpPr>
          <p:cNvPr id="11" name="Text 9"/>
          <p:cNvSpPr/>
          <p:nvPr/>
        </p:nvSpPr>
        <p:spPr>
          <a:xfrm>
            <a:off x="3291840" y="164592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27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B2B SaaS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303520" y="1645920"/>
            <a:ext cx="3291840" cy="731520"/>
          </a:xfrm>
          <a:prstGeom prst="rect">
            <a:avLst>
              <a:gd name="adj" fmla="val 10000"/>
            </a:avLst>
          </a:prstGeom>
          <a:solidFill>
            <a:srgbClr val="F5F5F5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0" y="164592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D4F6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企業向けクラウドサービス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560320" y="25603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9731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▶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291840" y="2560320"/>
            <a:ext cx="1828800" cy="731520"/>
          </a:xfrm>
          <a:prstGeom prst="rect">
            <a:avLst>
              <a:gd name="adj" fmla="val 10000"/>
            </a:avLst>
          </a:prstGeom>
          <a:solidFill>
            <a:srgbClr val="F97316"/>
          </a:solidFill>
          <a:ln/>
        </p:spPr>
      </p:sp>
      <p:sp>
        <p:nvSpPr>
          <p:cNvPr id="16" name="Text 14"/>
          <p:cNvSpPr/>
          <p:nvPr/>
        </p:nvSpPr>
        <p:spPr>
          <a:xfrm>
            <a:off x="3291840" y="256032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27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B2C アプリ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303520" y="2560320"/>
            <a:ext cx="3291840" cy="731520"/>
          </a:xfrm>
          <a:prstGeom prst="rect">
            <a:avLst>
              <a:gd name="adj" fmla="val 10000"/>
            </a:avLst>
          </a:prstGeom>
          <a:solidFill>
            <a:srgbClr val="F5F5F5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0" y="256032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D4F6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個人向けモバイルアプリ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2560320" y="34747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9731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▶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3291840" y="3474720"/>
            <a:ext cx="1828800" cy="731520"/>
          </a:xfrm>
          <a:prstGeom prst="rect">
            <a:avLst>
              <a:gd name="adj" fmla="val 10000"/>
            </a:avLst>
          </a:prstGeom>
          <a:solidFill>
            <a:srgbClr val="F97316"/>
          </a:solidFill>
          <a:ln/>
        </p:spPr>
      </p:sp>
      <p:sp>
        <p:nvSpPr>
          <p:cNvPr id="21" name="Text 19"/>
          <p:cNvSpPr/>
          <p:nvPr/>
        </p:nvSpPr>
        <p:spPr>
          <a:xfrm>
            <a:off x="3291840" y="347472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27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API連携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303520" y="3474720"/>
            <a:ext cx="3291840" cy="731520"/>
          </a:xfrm>
          <a:prstGeom prst="rect">
            <a:avLst>
              <a:gd name="adj" fmla="val 10000"/>
            </a:avLst>
          </a:prstGeom>
          <a:solidFill>
            <a:srgbClr val="F5F5F5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0" y="347472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D4F6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サードパーティ連携基盤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48640" y="466344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200" dirty="0">
                <a:solidFill>
                  <a:srgbClr val="6B7B8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出所: テストデータ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27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成長ロードマップ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731520"/>
            <a:ext cx="1097280" cy="36576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822960"/>
            <a:ext cx="8046720" cy="457200"/>
          </a:xfrm>
          <a:prstGeom prst="rect">
            <a:avLst>
              <a:gd name="adj" fmla="val 10000"/>
            </a:avLst>
          </a:prstGeom>
          <a:solidFill>
            <a:srgbClr val="1A2744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822960"/>
            <a:ext cx="54864" cy="45720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822960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4段階で事業を拡大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3566160"/>
            <a:ext cx="1874520" cy="640080"/>
          </a:xfrm>
          <a:prstGeom prst="rect">
            <a:avLst>
              <a:gd name="adj" fmla="val 11429"/>
            </a:avLst>
          </a:prstGeom>
          <a:solidFill>
            <a:srgbClr val="1A2744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3703320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9731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Phase 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4069080"/>
            <a:ext cx="1691640" cy="0"/>
          </a:xfrm>
          <a:prstGeom prst="rect">
            <a:avLst/>
          </a:prstGeom>
          <a:noFill/>
          <a:ln/>
        </p:spPr>
        <p:txBody>
          <a:bodyPr wrap="square" rtlCol="0" anchor="t"/>
          <a:lstStyle>
            <a:lvl1pPr algn="l"/>
          </a:lstStyle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MVP開発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606040" y="2926080"/>
            <a:ext cx="1874520" cy="1280160"/>
          </a:xfrm>
          <a:prstGeom prst="rect">
            <a:avLst>
              <a:gd name="adj" fmla="val 5714"/>
            </a:avLst>
          </a:prstGeom>
          <a:solidFill>
            <a:srgbClr val="1A2744"/>
          </a:solidFill>
          <a:ln/>
        </p:spPr>
      </p:sp>
      <p:sp>
        <p:nvSpPr>
          <p:cNvPr id="11" name="Text 9"/>
          <p:cNvSpPr/>
          <p:nvPr/>
        </p:nvSpPr>
        <p:spPr>
          <a:xfrm>
            <a:off x="2606040" y="3063240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9731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Phase 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697480" y="3429000"/>
            <a:ext cx="16916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PMF達成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663440" y="2286000"/>
            <a:ext cx="1874520" cy="1920240"/>
          </a:xfrm>
          <a:prstGeom prst="rect">
            <a:avLst>
              <a:gd name="adj" fmla="val 3902"/>
            </a:avLst>
          </a:prstGeom>
          <a:solidFill>
            <a:srgbClr val="1A2744"/>
          </a:solidFill>
          <a:ln/>
        </p:spPr>
      </p:sp>
      <p:sp>
        <p:nvSpPr>
          <p:cNvPr id="14" name="Text 12"/>
          <p:cNvSpPr/>
          <p:nvPr/>
        </p:nvSpPr>
        <p:spPr>
          <a:xfrm>
            <a:off x="4663440" y="2423160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9731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Phase 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754880" y="2788920"/>
            <a:ext cx="16916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スケール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720840" y="1645920"/>
            <a:ext cx="1874520" cy="2560320"/>
          </a:xfrm>
          <a:prstGeom prst="rect">
            <a:avLst>
              <a:gd name="adj" fmla="val 3902"/>
            </a:avLst>
          </a:prstGeom>
          <a:solidFill>
            <a:srgbClr val="1A2744"/>
          </a:solidFill>
          <a:ln/>
        </p:spPr>
      </p:sp>
      <p:sp>
        <p:nvSpPr>
          <p:cNvPr id="17" name="Text 15"/>
          <p:cNvSpPr/>
          <p:nvPr/>
        </p:nvSpPr>
        <p:spPr>
          <a:xfrm>
            <a:off x="6720840" y="1783080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9731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Phase 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812280" y="2148840"/>
            <a:ext cx="169164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グローバル展開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48640" y="466344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200" dirty="0">
                <a:solidFill>
                  <a:srgbClr val="6B7B8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出所: テストデータ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27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導入プロセスと各部門の役割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731520"/>
            <a:ext cx="1097280" cy="36576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822960"/>
            <a:ext cx="8046720" cy="457200"/>
          </a:xfrm>
          <a:prstGeom prst="rect">
            <a:avLst>
              <a:gd name="adj" fmla="val 10000"/>
            </a:avLst>
          </a:prstGeom>
          <a:solidFill>
            <a:srgbClr val="1A2744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822960"/>
            <a:ext cx="54864" cy="45720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822960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3フェーズ×3部門で推進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965960" y="1463040"/>
            <a:ext cx="2133600" cy="548640"/>
          </a:xfrm>
          <a:prstGeom prst="rect">
            <a:avLst>
              <a:gd name="adj" fmla="val 13333"/>
            </a:avLst>
          </a:prstGeom>
          <a:solidFill>
            <a:srgbClr val="1A2744"/>
          </a:solidFill>
          <a:ln/>
        </p:spPr>
      </p:sp>
      <p:sp>
        <p:nvSpPr>
          <p:cNvPr id="8" name="Text 6"/>
          <p:cNvSpPr/>
          <p:nvPr/>
        </p:nvSpPr>
        <p:spPr>
          <a:xfrm>
            <a:off x="1965960" y="1463040"/>
            <a:ext cx="2133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準備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962400" y="1463040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9731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▶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191000" y="1463040"/>
            <a:ext cx="2133600" cy="548640"/>
          </a:xfrm>
          <a:prstGeom prst="rect">
            <a:avLst>
              <a:gd name="adj" fmla="val 13333"/>
            </a:avLst>
          </a:prstGeom>
          <a:solidFill>
            <a:srgbClr val="1A2744"/>
          </a:solidFill>
          <a:ln/>
        </p:spPr>
      </p:sp>
      <p:sp>
        <p:nvSpPr>
          <p:cNvPr id="11" name="Text 9"/>
          <p:cNvSpPr/>
          <p:nvPr/>
        </p:nvSpPr>
        <p:spPr>
          <a:xfrm>
            <a:off x="4191000" y="1463040"/>
            <a:ext cx="2133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導入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187440" y="1463040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9731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▶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16040" y="1463040"/>
            <a:ext cx="2133600" cy="548640"/>
          </a:xfrm>
          <a:prstGeom prst="rect">
            <a:avLst>
              <a:gd name="adj" fmla="val 13333"/>
            </a:avLst>
          </a:prstGeom>
          <a:solidFill>
            <a:srgbClr val="1A2744"/>
          </a:solidFill>
          <a:ln/>
        </p:spPr>
      </p:sp>
      <p:sp>
        <p:nvSpPr>
          <p:cNvPr id="14" name="Text 12"/>
          <p:cNvSpPr/>
          <p:nvPr/>
        </p:nvSpPr>
        <p:spPr>
          <a:xfrm>
            <a:off x="6416040" y="1463040"/>
            <a:ext cx="2133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定着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48640" y="2148840"/>
            <a:ext cx="1371600" cy="50292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214884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7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経営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920240" y="2148840"/>
            <a:ext cx="2225040" cy="50292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8" name="Text 16"/>
          <p:cNvSpPr/>
          <p:nvPr/>
        </p:nvSpPr>
        <p:spPr>
          <a:xfrm>
            <a:off x="1920240" y="2148840"/>
            <a:ext cx="2225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D4F6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方針決定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145280" y="2148840"/>
            <a:ext cx="2225040" cy="50292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20" name="Text 18"/>
          <p:cNvSpPr/>
          <p:nvPr/>
        </p:nvSpPr>
        <p:spPr>
          <a:xfrm>
            <a:off x="4145280" y="2148840"/>
            <a:ext cx="2225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D4F6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進捗確認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370320" y="2148840"/>
            <a:ext cx="2225040" cy="50292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22" name="Text 20"/>
          <p:cNvSpPr/>
          <p:nvPr/>
        </p:nvSpPr>
        <p:spPr>
          <a:xfrm>
            <a:off x="6370320" y="2148840"/>
            <a:ext cx="2225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D4F6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効果測定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48640" y="2651760"/>
            <a:ext cx="1371600" cy="50292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24" name="Text 22"/>
          <p:cNvSpPr/>
          <p:nvPr/>
        </p:nvSpPr>
        <p:spPr>
          <a:xfrm>
            <a:off x="548640" y="265176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7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IT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1920240" y="2651760"/>
            <a:ext cx="222504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6" name="Text 24"/>
          <p:cNvSpPr/>
          <p:nvPr/>
        </p:nvSpPr>
        <p:spPr>
          <a:xfrm>
            <a:off x="1920240" y="2651760"/>
            <a:ext cx="2225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D4F6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環境構築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145280" y="2651760"/>
            <a:ext cx="222504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8" name="Text 26"/>
          <p:cNvSpPr/>
          <p:nvPr/>
        </p:nvSpPr>
        <p:spPr>
          <a:xfrm>
            <a:off x="4145280" y="2651760"/>
            <a:ext cx="2225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D4F6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システム導入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370320" y="2651760"/>
            <a:ext cx="222504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0" name="Text 28"/>
          <p:cNvSpPr/>
          <p:nvPr/>
        </p:nvSpPr>
        <p:spPr>
          <a:xfrm>
            <a:off x="6370320" y="2651760"/>
            <a:ext cx="2225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D4F6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運用保守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48640" y="3154680"/>
            <a:ext cx="1371600" cy="50292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2" name="Text 30"/>
          <p:cNvSpPr/>
          <p:nvPr/>
        </p:nvSpPr>
        <p:spPr>
          <a:xfrm>
            <a:off x="548640" y="315468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7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人事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1920240" y="3154680"/>
            <a:ext cx="2225040" cy="50292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4" name="Text 32"/>
          <p:cNvSpPr/>
          <p:nvPr/>
        </p:nvSpPr>
        <p:spPr>
          <a:xfrm>
            <a:off x="1920240" y="3154680"/>
            <a:ext cx="2225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D4F6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研修企画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4145280" y="3154680"/>
            <a:ext cx="2225040" cy="50292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6" name="Text 34"/>
          <p:cNvSpPr/>
          <p:nvPr/>
        </p:nvSpPr>
        <p:spPr>
          <a:xfrm>
            <a:off x="4145280" y="3154680"/>
            <a:ext cx="2225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D4F6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研修実施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6370320" y="3154680"/>
            <a:ext cx="2225040" cy="50292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8" name="Text 36"/>
          <p:cNvSpPr/>
          <p:nvPr/>
        </p:nvSpPr>
        <p:spPr>
          <a:xfrm>
            <a:off x="6370320" y="3154680"/>
            <a:ext cx="2225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D4F6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フォローアップ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548640" y="466344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200" dirty="0">
                <a:solidFill>
                  <a:srgbClr val="6B7B8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出所: テストデータ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27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プロジェクト管理マトリックス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731520"/>
            <a:ext cx="1097280" cy="36576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822960"/>
            <a:ext cx="8046720" cy="457200"/>
          </a:xfrm>
          <a:prstGeom prst="rect">
            <a:avLst>
              <a:gd name="adj" fmla="val 10000"/>
            </a:avLst>
          </a:prstGeom>
          <a:solidFill>
            <a:srgbClr val="1A2744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822960"/>
            <a:ext cx="54864" cy="45720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822960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4フェーズ×2観点で管理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965960" y="1463040"/>
            <a:ext cx="1577340" cy="548640"/>
          </a:xfrm>
          <a:prstGeom prst="rect">
            <a:avLst>
              <a:gd name="adj" fmla="val 13333"/>
            </a:avLst>
          </a:prstGeom>
          <a:solidFill>
            <a:srgbClr val="1A2744"/>
          </a:solidFill>
          <a:ln/>
        </p:spPr>
      </p:sp>
      <p:sp>
        <p:nvSpPr>
          <p:cNvPr id="8" name="Text 6"/>
          <p:cNvSpPr/>
          <p:nvPr/>
        </p:nvSpPr>
        <p:spPr>
          <a:xfrm>
            <a:off x="1965960" y="1463040"/>
            <a:ext cx="15773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企画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406140" y="1463040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9731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▶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34740" y="1463040"/>
            <a:ext cx="1577340" cy="548640"/>
          </a:xfrm>
          <a:prstGeom prst="rect">
            <a:avLst>
              <a:gd name="adj" fmla="val 13333"/>
            </a:avLst>
          </a:prstGeom>
          <a:solidFill>
            <a:srgbClr val="1A2744"/>
          </a:solidFill>
          <a:ln/>
        </p:spPr>
      </p:sp>
      <p:sp>
        <p:nvSpPr>
          <p:cNvPr id="11" name="Text 9"/>
          <p:cNvSpPr/>
          <p:nvPr/>
        </p:nvSpPr>
        <p:spPr>
          <a:xfrm>
            <a:off x="3634740" y="1463040"/>
            <a:ext cx="15773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設計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074920" y="1463040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9731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▶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303520" y="1463040"/>
            <a:ext cx="1577340" cy="548640"/>
          </a:xfrm>
          <a:prstGeom prst="rect">
            <a:avLst>
              <a:gd name="adj" fmla="val 13333"/>
            </a:avLst>
          </a:prstGeom>
          <a:solidFill>
            <a:srgbClr val="1A2744"/>
          </a:solidFill>
          <a:ln/>
        </p:spPr>
      </p:sp>
      <p:sp>
        <p:nvSpPr>
          <p:cNvPr id="14" name="Text 12"/>
          <p:cNvSpPr/>
          <p:nvPr/>
        </p:nvSpPr>
        <p:spPr>
          <a:xfrm>
            <a:off x="5303520" y="1463040"/>
            <a:ext cx="15773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開発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743700" y="1463040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9731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▶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972300" y="1463040"/>
            <a:ext cx="1577340" cy="548640"/>
          </a:xfrm>
          <a:prstGeom prst="rect">
            <a:avLst>
              <a:gd name="adj" fmla="val 13333"/>
            </a:avLst>
          </a:prstGeom>
          <a:solidFill>
            <a:srgbClr val="1A2744"/>
          </a:solidFill>
          <a:ln/>
        </p:spPr>
      </p:sp>
      <p:sp>
        <p:nvSpPr>
          <p:cNvPr id="17" name="Text 15"/>
          <p:cNvSpPr/>
          <p:nvPr/>
        </p:nvSpPr>
        <p:spPr>
          <a:xfrm>
            <a:off x="6972300" y="1463040"/>
            <a:ext cx="15773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運用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48640" y="2148840"/>
            <a:ext cx="1371600" cy="50292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214884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7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品質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1920240" y="2148840"/>
            <a:ext cx="1668780" cy="50292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21" name="Text 19"/>
          <p:cNvSpPr/>
          <p:nvPr/>
        </p:nvSpPr>
        <p:spPr>
          <a:xfrm>
            <a:off x="1920240" y="2148840"/>
            <a:ext cx="16687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D4F6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要件レビュー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589020" y="2148840"/>
            <a:ext cx="1668780" cy="50292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23" name="Text 21"/>
          <p:cNvSpPr/>
          <p:nvPr/>
        </p:nvSpPr>
        <p:spPr>
          <a:xfrm>
            <a:off x="3589020" y="2148840"/>
            <a:ext cx="16687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D4F6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設計レビュー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257800" y="2148840"/>
            <a:ext cx="1668780" cy="50292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25" name="Text 23"/>
          <p:cNvSpPr/>
          <p:nvPr/>
        </p:nvSpPr>
        <p:spPr>
          <a:xfrm>
            <a:off x="5257800" y="2148840"/>
            <a:ext cx="16687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D4F6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コードレビュー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926580" y="2148840"/>
            <a:ext cx="1668780" cy="50292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27" name="Text 25"/>
          <p:cNvSpPr/>
          <p:nvPr/>
        </p:nvSpPr>
        <p:spPr>
          <a:xfrm>
            <a:off x="6926580" y="2148840"/>
            <a:ext cx="16687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D4F6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モニタリング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48640" y="2651760"/>
            <a:ext cx="1371600" cy="50292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29" name="Text 27"/>
          <p:cNvSpPr/>
          <p:nvPr/>
        </p:nvSpPr>
        <p:spPr>
          <a:xfrm>
            <a:off x="548640" y="265176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7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コスト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1920240" y="2651760"/>
            <a:ext cx="166878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1" name="Text 29"/>
          <p:cNvSpPr/>
          <p:nvPr/>
        </p:nvSpPr>
        <p:spPr>
          <a:xfrm>
            <a:off x="1920240" y="2651760"/>
            <a:ext cx="16687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D4F6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予算策定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3589020" y="2651760"/>
            <a:ext cx="166878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3" name="Text 31"/>
          <p:cNvSpPr/>
          <p:nvPr/>
        </p:nvSpPr>
        <p:spPr>
          <a:xfrm>
            <a:off x="3589020" y="2651760"/>
            <a:ext cx="16687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D4F6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見積精査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5257800" y="2651760"/>
            <a:ext cx="166878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5" name="Text 33"/>
          <p:cNvSpPr/>
          <p:nvPr/>
        </p:nvSpPr>
        <p:spPr>
          <a:xfrm>
            <a:off x="5257800" y="2651760"/>
            <a:ext cx="16687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D4F6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進捗管理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6926580" y="2651760"/>
            <a:ext cx="166878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7" name="Text 35"/>
          <p:cNvSpPr/>
          <p:nvPr/>
        </p:nvSpPr>
        <p:spPr>
          <a:xfrm>
            <a:off x="6926580" y="2651760"/>
            <a:ext cx="16687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D4F6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コスト最適化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48640" y="466344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200" dirty="0">
                <a:solidFill>
                  <a:srgbClr val="6B7B8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出所: テストデータ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27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スキルマトリックス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731520"/>
            <a:ext cx="1097280" cy="36576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822960"/>
            <a:ext cx="8046720" cy="457200"/>
          </a:xfrm>
          <a:prstGeom prst="rect">
            <a:avLst>
              <a:gd name="adj" fmla="val 10000"/>
            </a:avLst>
          </a:prstGeom>
          <a:solidFill>
            <a:srgbClr val="1A2744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822960"/>
            <a:ext cx="54864" cy="45720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822960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チームのスキルを可視化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1463040"/>
            <a:ext cx="1371600" cy="4572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8" name="Shape 6"/>
          <p:cNvSpPr/>
          <p:nvPr/>
        </p:nvSpPr>
        <p:spPr>
          <a:xfrm>
            <a:off x="1920240" y="1463040"/>
            <a:ext cx="1668780" cy="4572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9" name="Text 7"/>
          <p:cNvSpPr/>
          <p:nvPr/>
        </p:nvSpPr>
        <p:spPr>
          <a:xfrm>
            <a:off x="1920240" y="1463040"/>
            <a:ext cx="16687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フロントエンド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589020" y="1463040"/>
            <a:ext cx="1668780" cy="4572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11" name="Text 9"/>
          <p:cNvSpPr/>
          <p:nvPr/>
        </p:nvSpPr>
        <p:spPr>
          <a:xfrm>
            <a:off x="3589020" y="1463040"/>
            <a:ext cx="16687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バックエンド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257800" y="1463040"/>
            <a:ext cx="1668780" cy="4572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13" name="Text 11"/>
          <p:cNvSpPr/>
          <p:nvPr/>
        </p:nvSpPr>
        <p:spPr>
          <a:xfrm>
            <a:off x="5257800" y="1463040"/>
            <a:ext cx="16687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インフラ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926580" y="1463040"/>
            <a:ext cx="1668780" cy="4572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15" name="Text 13"/>
          <p:cNvSpPr/>
          <p:nvPr/>
        </p:nvSpPr>
        <p:spPr>
          <a:xfrm>
            <a:off x="6926580" y="1463040"/>
            <a:ext cx="16687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デザイン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1920240"/>
            <a:ext cx="1371600" cy="45720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192024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7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田中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1920240" y="1920240"/>
            <a:ext cx="1668780" cy="4572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9" name="Text 17"/>
          <p:cNvSpPr/>
          <p:nvPr/>
        </p:nvSpPr>
        <p:spPr>
          <a:xfrm>
            <a:off x="1920240" y="1920240"/>
            <a:ext cx="16687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D4F6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★★★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589020" y="1920240"/>
            <a:ext cx="1668780" cy="4572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21" name="Text 19"/>
          <p:cNvSpPr/>
          <p:nvPr/>
        </p:nvSpPr>
        <p:spPr>
          <a:xfrm>
            <a:off x="3589020" y="1920240"/>
            <a:ext cx="16687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D4F6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★★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257800" y="1920240"/>
            <a:ext cx="1668780" cy="4572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23" name="Text 21"/>
          <p:cNvSpPr/>
          <p:nvPr/>
        </p:nvSpPr>
        <p:spPr>
          <a:xfrm>
            <a:off x="5257800" y="1920240"/>
            <a:ext cx="16687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D4F6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★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926580" y="1920240"/>
            <a:ext cx="1668780" cy="4572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25" name="Text 23"/>
          <p:cNvSpPr/>
          <p:nvPr/>
        </p:nvSpPr>
        <p:spPr>
          <a:xfrm>
            <a:off x="6926580" y="1920240"/>
            <a:ext cx="16687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D4F6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★★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48640" y="2377440"/>
            <a:ext cx="1371600" cy="45720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27" name="Text 25"/>
          <p:cNvSpPr/>
          <p:nvPr/>
        </p:nvSpPr>
        <p:spPr>
          <a:xfrm>
            <a:off x="548640" y="237744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7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鈴木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1920240" y="2377440"/>
            <a:ext cx="166878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9" name="Text 27"/>
          <p:cNvSpPr/>
          <p:nvPr/>
        </p:nvSpPr>
        <p:spPr>
          <a:xfrm>
            <a:off x="1920240" y="2377440"/>
            <a:ext cx="16687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D4F6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★★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3589020" y="2377440"/>
            <a:ext cx="166878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1" name="Text 29"/>
          <p:cNvSpPr/>
          <p:nvPr/>
        </p:nvSpPr>
        <p:spPr>
          <a:xfrm>
            <a:off x="3589020" y="2377440"/>
            <a:ext cx="16687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D4F6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★★★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5257800" y="2377440"/>
            <a:ext cx="166878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3" name="Text 31"/>
          <p:cNvSpPr/>
          <p:nvPr/>
        </p:nvSpPr>
        <p:spPr>
          <a:xfrm>
            <a:off x="5257800" y="2377440"/>
            <a:ext cx="16687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D4F6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★★★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926580" y="2377440"/>
            <a:ext cx="166878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5" name="Text 33"/>
          <p:cNvSpPr/>
          <p:nvPr/>
        </p:nvSpPr>
        <p:spPr>
          <a:xfrm>
            <a:off x="6926580" y="2377440"/>
            <a:ext cx="16687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D4F6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★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548640" y="2834640"/>
            <a:ext cx="1371600" cy="45720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7" name="Text 35"/>
          <p:cNvSpPr/>
          <p:nvPr/>
        </p:nvSpPr>
        <p:spPr>
          <a:xfrm>
            <a:off x="548640" y="283464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7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佐藤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1920240" y="2834640"/>
            <a:ext cx="1668780" cy="4572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9" name="Text 37"/>
          <p:cNvSpPr/>
          <p:nvPr/>
        </p:nvSpPr>
        <p:spPr>
          <a:xfrm>
            <a:off x="1920240" y="2834640"/>
            <a:ext cx="16687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D4F6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★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3589020" y="2834640"/>
            <a:ext cx="1668780" cy="4572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41" name="Text 39"/>
          <p:cNvSpPr/>
          <p:nvPr/>
        </p:nvSpPr>
        <p:spPr>
          <a:xfrm>
            <a:off x="3589020" y="2834640"/>
            <a:ext cx="16687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D4F6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★★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5257800" y="2834640"/>
            <a:ext cx="1668780" cy="4572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43" name="Text 41"/>
          <p:cNvSpPr/>
          <p:nvPr/>
        </p:nvSpPr>
        <p:spPr>
          <a:xfrm>
            <a:off x="5257800" y="2834640"/>
            <a:ext cx="16687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D4F6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★★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6926580" y="2834640"/>
            <a:ext cx="1668780" cy="4572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45" name="Text 43"/>
          <p:cNvSpPr/>
          <p:nvPr/>
        </p:nvSpPr>
        <p:spPr>
          <a:xfrm>
            <a:off x="6926580" y="2834640"/>
            <a:ext cx="16687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D4F6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★★★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548640" y="466344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200" dirty="0">
                <a:solidFill>
                  <a:srgbClr val="6B7B8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出所: テストデータ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CONCLUSION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8046720" cy="914400"/>
          </a:xfrm>
          <a:prstGeom prst="rect">
            <a:avLst>
              <a:gd name="adj" fmla="val 10000"/>
            </a:avLst>
          </a:prstGeom>
          <a:solidFill>
            <a:srgbClr val="1A2744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09728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全22パターンの動作確認が完了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48640" y="237744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7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Next Steps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48640" y="2926080"/>
            <a:ext cx="365760" cy="365760"/>
          </a:xfrm>
          <a:prstGeom prst="rect">
            <a:avLst>
              <a:gd name="adj" fmla="val 12500"/>
            </a:avLst>
          </a:prstGeom>
          <a:solidFill>
            <a:srgbClr val="F97316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9260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27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97280" y="2926080"/>
            <a:ext cx="7498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D4F6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基本パターン9種の動作を確認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8640" y="3429000"/>
            <a:ext cx="365760" cy="365760"/>
          </a:xfrm>
          <a:prstGeom prst="rect">
            <a:avLst>
              <a:gd name="adj" fmla="val 12500"/>
            </a:avLst>
          </a:prstGeom>
          <a:solidFill>
            <a:srgbClr val="F97316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34290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27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97280" y="3429000"/>
            <a:ext cx="7498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D4F6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V2追加パターン13種の動作を確認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48640" y="3931920"/>
            <a:ext cx="365760" cy="365760"/>
          </a:xfrm>
          <a:prstGeom prst="rect">
            <a:avLst>
              <a:gd name="adj" fmla="val 12500"/>
            </a:avLst>
          </a:prstGeom>
          <a:solidFill>
            <a:srgbClr val="F97316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39319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27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97280" y="3931920"/>
            <a:ext cx="7498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D4F6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本番運用の準備完了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全パターンテスト</dc:title>
  <dc:subject>PptxGenJS Presentation</dc:subject>
  <dc:creator>テスト</dc:creator>
  <cp:lastModifiedBy>テスト</cp:lastModifiedBy>
  <cp:revision>1</cp:revision>
  <dcterms:created xsi:type="dcterms:W3CDTF">2026-03-07T11:45:16Z</dcterms:created>
  <dcterms:modified xsi:type="dcterms:W3CDTF">2026-03-07T11:45:16Z</dcterms:modified>
</cp:coreProperties>
</file>